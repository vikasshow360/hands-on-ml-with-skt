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8" r:id="rId2"/>
    <p:sldId id="269" r:id="rId3"/>
    <p:sldId id="270" r:id="rId4"/>
    <p:sldId id="271" r:id="rId5"/>
    <p:sldId id="272" r:id="rId6"/>
    <p:sldId id="265" r:id="rId7"/>
    <p:sldId id="267" r:id="rId8"/>
    <p:sldId id="266" r:id="rId9"/>
    <p:sldId id="258" r:id="rId10"/>
    <p:sldId id="260" r:id="rId11"/>
    <p:sldId id="259" r:id="rId12"/>
    <p:sldId id="261"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6" autoAdjust="0"/>
    <p:restoredTop sz="94660"/>
  </p:normalViewPr>
  <p:slideViewPr>
    <p:cSldViewPr snapToGrid="0">
      <p:cViewPr>
        <p:scale>
          <a:sx n="66" d="100"/>
          <a:sy n="66" d="100"/>
        </p:scale>
        <p:origin x="1531"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D5FA06-2020-48DB-B305-9B7B7CA2089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ACE0D187-732A-4109-B72A-A0043BD01896}">
      <dgm:prSet/>
      <dgm:spPr/>
      <dgm:t>
        <a:bodyPr/>
        <a:lstStyle/>
        <a:p>
          <a:r>
            <a:rPr lang="en-US" dirty="0"/>
            <a:t>It’s very important to understand how ML systems generalize</a:t>
          </a:r>
        </a:p>
      </dgm:t>
    </dgm:pt>
    <dgm:pt modelId="{D2E64B51-3C2B-405D-A7DE-9ECEB893EF57}" type="parTrans" cxnId="{5C06C775-FD79-4F39-8749-4E508E87FE84}">
      <dgm:prSet/>
      <dgm:spPr/>
      <dgm:t>
        <a:bodyPr/>
        <a:lstStyle/>
        <a:p>
          <a:endParaRPr lang="en-US"/>
        </a:p>
      </dgm:t>
    </dgm:pt>
    <dgm:pt modelId="{10FD7E09-2EAD-405A-A89C-E0B58B217460}" type="sibTrans" cxnId="{5C06C775-FD79-4F39-8749-4E508E87FE84}">
      <dgm:prSet/>
      <dgm:spPr/>
      <dgm:t>
        <a:bodyPr/>
        <a:lstStyle/>
        <a:p>
          <a:endParaRPr lang="en-US"/>
        </a:p>
      </dgm:t>
    </dgm:pt>
    <dgm:pt modelId="{E7B6D31F-DCDB-4976-9E0F-D7E2AAE600D6}">
      <dgm:prSet/>
      <dgm:spPr/>
      <dgm:t>
        <a:bodyPr/>
        <a:lstStyle/>
        <a:p>
          <a:r>
            <a:rPr lang="en-US" dirty="0"/>
            <a:t>Good performance measure on training data is insufficient </a:t>
          </a:r>
        </a:p>
      </dgm:t>
    </dgm:pt>
    <dgm:pt modelId="{248622DA-8E1C-4390-BEE1-CF98911D00CE}" type="parTrans" cxnId="{2B875FE5-9CCE-489B-B78A-5CCA9302256C}">
      <dgm:prSet/>
      <dgm:spPr/>
      <dgm:t>
        <a:bodyPr/>
        <a:lstStyle/>
        <a:p>
          <a:endParaRPr lang="en-US"/>
        </a:p>
      </dgm:t>
    </dgm:pt>
    <dgm:pt modelId="{E607D7B3-D98C-4D71-A149-15F2DD05F37C}" type="sibTrans" cxnId="{2B875FE5-9CCE-489B-B78A-5CCA9302256C}">
      <dgm:prSet/>
      <dgm:spPr/>
      <dgm:t>
        <a:bodyPr/>
        <a:lstStyle/>
        <a:p>
          <a:endParaRPr lang="en-US"/>
        </a:p>
      </dgm:t>
    </dgm:pt>
    <dgm:pt modelId="{8DF4FD05-2167-4A17-8C50-60128182ECF5}">
      <dgm:prSet/>
      <dgm:spPr/>
      <dgm:t>
        <a:bodyPr/>
        <a:lstStyle/>
        <a:p>
          <a:r>
            <a:rPr lang="en-US" dirty="0"/>
            <a:t>Goal is how ML system predicts on new instances</a:t>
          </a:r>
        </a:p>
      </dgm:t>
    </dgm:pt>
    <dgm:pt modelId="{17155E99-DECE-4BB9-B09F-8940D0483BE9}" type="parTrans" cxnId="{92021091-C456-459A-A3E6-5D2D0987D2A5}">
      <dgm:prSet/>
      <dgm:spPr/>
      <dgm:t>
        <a:bodyPr/>
        <a:lstStyle/>
        <a:p>
          <a:endParaRPr lang="en-US"/>
        </a:p>
      </dgm:t>
    </dgm:pt>
    <dgm:pt modelId="{36FA76D1-2F31-4375-97A1-7C0F3A37E651}" type="sibTrans" cxnId="{92021091-C456-459A-A3E6-5D2D0987D2A5}">
      <dgm:prSet/>
      <dgm:spPr/>
      <dgm:t>
        <a:bodyPr/>
        <a:lstStyle/>
        <a:p>
          <a:endParaRPr lang="en-US"/>
        </a:p>
      </dgm:t>
    </dgm:pt>
    <dgm:pt modelId="{9735DE31-E58A-46A3-B889-3E36E4C68C53}">
      <dgm:prSet/>
      <dgm:spPr/>
      <dgm:t>
        <a:bodyPr/>
        <a:lstStyle/>
        <a:p>
          <a:r>
            <a:rPr lang="en-US" dirty="0"/>
            <a:t>There are two main approaches  Instance Based Learning and Model Based Learning</a:t>
          </a:r>
        </a:p>
      </dgm:t>
    </dgm:pt>
    <dgm:pt modelId="{2608712D-5C4E-41BC-8564-6D48F5C3139C}" type="parTrans" cxnId="{C04052F8-1355-49A7-B08B-9F70CCF21378}">
      <dgm:prSet/>
      <dgm:spPr/>
      <dgm:t>
        <a:bodyPr/>
        <a:lstStyle/>
        <a:p>
          <a:endParaRPr lang="en-US"/>
        </a:p>
      </dgm:t>
    </dgm:pt>
    <dgm:pt modelId="{8D5C3194-C957-4969-B70C-2E13A1903239}" type="sibTrans" cxnId="{C04052F8-1355-49A7-B08B-9F70CCF21378}">
      <dgm:prSet/>
      <dgm:spPr/>
      <dgm:t>
        <a:bodyPr/>
        <a:lstStyle/>
        <a:p>
          <a:endParaRPr lang="en-US"/>
        </a:p>
      </dgm:t>
    </dgm:pt>
    <dgm:pt modelId="{87D7C4FB-1D08-4930-A6F5-866A41F696F5}" type="pres">
      <dgm:prSet presAssocID="{90D5FA06-2020-48DB-B305-9B7B7CA20891}" presName="vert0" presStyleCnt="0">
        <dgm:presLayoutVars>
          <dgm:dir/>
          <dgm:animOne val="branch"/>
          <dgm:animLvl val="lvl"/>
        </dgm:presLayoutVars>
      </dgm:prSet>
      <dgm:spPr/>
    </dgm:pt>
    <dgm:pt modelId="{5F71834C-E84A-4A5C-9543-913BCEDCEE80}" type="pres">
      <dgm:prSet presAssocID="{ACE0D187-732A-4109-B72A-A0043BD01896}" presName="thickLine" presStyleLbl="alignNode1" presStyleIdx="0" presStyleCnt="4"/>
      <dgm:spPr/>
    </dgm:pt>
    <dgm:pt modelId="{BFE62902-B10A-424F-9F9F-986654AE7B53}" type="pres">
      <dgm:prSet presAssocID="{ACE0D187-732A-4109-B72A-A0043BD01896}" presName="horz1" presStyleCnt="0"/>
      <dgm:spPr/>
    </dgm:pt>
    <dgm:pt modelId="{54031A62-DDE0-4F18-B7B3-DB95A66FF11A}" type="pres">
      <dgm:prSet presAssocID="{ACE0D187-732A-4109-B72A-A0043BD01896}" presName="tx1" presStyleLbl="revTx" presStyleIdx="0" presStyleCnt="4"/>
      <dgm:spPr/>
    </dgm:pt>
    <dgm:pt modelId="{01A9BEB9-EDA0-4269-B9C4-F912905B7885}" type="pres">
      <dgm:prSet presAssocID="{ACE0D187-732A-4109-B72A-A0043BD01896}" presName="vert1" presStyleCnt="0"/>
      <dgm:spPr/>
    </dgm:pt>
    <dgm:pt modelId="{B234D160-8A4D-40D4-AA28-011A4527688B}" type="pres">
      <dgm:prSet presAssocID="{E7B6D31F-DCDB-4976-9E0F-D7E2AAE600D6}" presName="thickLine" presStyleLbl="alignNode1" presStyleIdx="1" presStyleCnt="4"/>
      <dgm:spPr/>
    </dgm:pt>
    <dgm:pt modelId="{1FABFF25-BA9D-4CFC-9236-BA23F8BA15EE}" type="pres">
      <dgm:prSet presAssocID="{E7B6D31F-DCDB-4976-9E0F-D7E2AAE600D6}" presName="horz1" presStyleCnt="0"/>
      <dgm:spPr/>
    </dgm:pt>
    <dgm:pt modelId="{DC629F39-412F-4DDB-A98C-A26FDF68B5B1}" type="pres">
      <dgm:prSet presAssocID="{E7B6D31F-DCDB-4976-9E0F-D7E2AAE600D6}" presName="tx1" presStyleLbl="revTx" presStyleIdx="1" presStyleCnt="4"/>
      <dgm:spPr/>
    </dgm:pt>
    <dgm:pt modelId="{E729A53C-E39B-42D7-83F5-7A127EB5B920}" type="pres">
      <dgm:prSet presAssocID="{E7B6D31F-DCDB-4976-9E0F-D7E2AAE600D6}" presName="vert1" presStyleCnt="0"/>
      <dgm:spPr/>
    </dgm:pt>
    <dgm:pt modelId="{1D127C79-8992-4D88-952A-79ACEFC6DEAB}" type="pres">
      <dgm:prSet presAssocID="{8DF4FD05-2167-4A17-8C50-60128182ECF5}" presName="thickLine" presStyleLbl="alignNode1" presStyleIdx="2" presStyleCnt="4"/>
      <dgm:spPr/>
    </dgm:pt>
    <dgm:pt modelId="{DE90D5E8-7E4E-4FD8-8CD3-7A540CD655B9}" type="pres">
      <dgm:prSet presAssocID="{8DF4FD05-2167-4A17-8C50-60128182ECF5}" presName="horz1" presStyleCnt="0"/>
      <dgm:spPr/>
    </dgm:pt>
    <dgm:pt modelId="{4BDC7DDD-B6B1-4781-8EC2-D23818E36320}" type="pres">
      <dgm:prSet presAssocID="{8DF4FD05-2167-4A17-8C50-60128182ECF5}" presName="tx1" presStyleLbl="revTx" presStyleIdx="2" presStyleCnt="4"/>
      <dgm:spPr/>
    </dgm:pt>
    <dgm:pt modelId="{988DC6E8-736D-489C-9090-635D06D3794A}" type="pres">
      <dgm:prSet presAssocID="{8DF4FD05-2167-4A17-8C50-60128182ECF5}" presName="vert1" presStyleCnt="0"/>
      <dgm:spPr/>
    </dgm:pt>
    <dgm:pt modelId="{E621BA5F-6FBC-4D3D-957A-5332E2103EC6}" type="pres">
      <dgm:prSet presAssocID="{9735DE31-E58A-46A3-B889-3E36E4C68C53}" presName="thickLine" presStyleLbl="alignNode1" presStyleIdx="3" presStyleCnt="4"/>
      <dgm:spPr/>
    </dgm:pt>
    <dgm:pt modelId="{49EE26CD-B3FB-4A95-99DA-139DDDA64BD4}" type="pres">
      <dgm:prSet presAssocID="{9735DE31-E58A-46A3-B889-3E36E4C68C53}" presName="horz1" presStyleCnt="0"/>
      <dgm:spPr/>
    </dgm:pt>
    <dgm:pt modelId="{81C2E2C0-963C-44EB-8E46-E7F5F0A9DF5B}" type="pres">
      <dgm:prSet presAssocID="{9735DE31-E58A-46A3-B889-3E36E4C68C53}" presName="tx1" presStyleLbl="revTx" presStyleIdx="3" presStyleCnt="4"/>
      <dgm:spPr/>
    </dgm:pt>
    <dgm:pt modelId="{B3DC73EC-09B4-4034-97DE-9B1E6C4E0967}" type="pres">
      <dgm:prSet presAssocID="{9735DE31-E58A-46A3-B889-3E36E4C68C53}" presName="vert1" presStyleCnt="0"/>
      <dgm:spPr/>
    </dgm:pt>
  </dgm:ptLst>
  <dgm:cxnLst>
    <dgm:cxn modelId="{9273531E-74FC-464B-A366-A363FD67D617}" type="presOf" srcId="{9735DE31-E58A-46A3-B889-3E36E4C68C53}" destId="{81C2E2C0-963C-44EB-8E46-E7F5F0A9DF5B}" srcOrd="0" destOrd="0" presId="urn:microsoft.com/office/officeart/2008/layout/LinedList"/>
    <dgm:cxn modelId="{0BE1C255-72C3-403E-8A2D-EB7CEA3892DB}" type="presOf" srcId="{8DF4FD05-2167-4A17-8C50-60128182ECF5}" destId="{4BDC7DDD-B6B1-4781-8EC2-D23818E36320}" srcOrd="0" destOrd="0" presId="urn:microsoft.com/office/officeart/2008/layout/LinedList"/>
    <dgm:cxn modelId="{5C06C775-FD79-4F39-8749-4E508E87FE84}" srcId="{90D5FA06-2020-48DB-B305-9B7B7CA20891}" destId="{ACE0D187-732A-4109-B72A-A0043BD01896}" srcOrd="0" destOrd="0" parTransId="{D2E64B51-3C2B-405D-A7DE-9ECEB893EF57}" sibTransId="{10FD7E09-2EAD-405A-A89C-E0B58B217460}"/>
    <dgm:cxn modelId="{AEBBD986-51F9-4B96-9801-18228E110B12}" type="presOf" srcId="{90D5FA06-2020-48DB-B305-9B7B7CA20891}" destId="{87D7C4FB-1D08-4930-A6F5-866A41F696F5}" srcOrd="0" destOrd="0" presId="urn:microsoft.com/office/officeart/2008/layout/LinedList"/>
    <dgm:cxn modelId="{C426658C-CE48-4395-A904-227C32EC0C57}" type="presOf" srcId="{ACE0D187-732A-4109-B72A-A0043BD01896}" destId="{54031A62-DDE0-4F18-B7B3-DB95A66FF11A}" srcOrd="0" destOrd="0" presId="urn:microsoft.com/office/officeart/2008/layout/LinedList"/>
    <dgm:cxn modelId="{92021091-C456-459A-A3E6-5D2D0987D2A5}" srcId="{90D5FA06-2020-48DB-B305-9B7B7CA20891}" destId="{8DF4FD05-2167-4A17-8C50-60128182ECF5}" srcOrd="2" destOrd="0" parTransId="{17155E99-DECE-4BB9-B09F-8940D0483BE9}" sibTransId="{36FA76D1-2F31-4375-97A1-7C0F3A37E651}"/>
    <dgm:cxn modelId="{5B0507BA-0785-40FD-A7FB-352B2C6AD029}" type="presOf" srcId="{E7B6D31F-DCDB-4976-9E0F-D7E2AAE600D6}" destId="{DC629F39-412F-4DDB-A98C-A26FDF68B5B1}" srcOrd="0" destOrd="0" presId="urn:microsoft.com/office/officeart/2008/layout/LinedList"/>
    <dgm:cxn modelId="{2B875FE5-9CCE-489B-B78A-5CCA9302256C}" srcId="{90D5FA06-2020-48DB-B305-9B7B7CA20891}" destId="{E7B6D31F-DCDB-4976-9E0F-D7E2AAE600D6}" srcOrd="1" destOrd="0" parTransId="{248622DA-8E1C-4390-BEE1-CF98911D00CE}" sibTransId="{E607D7B3-D98C-4D71-A149-15F2DD05F37C}"/>
    <dgm:cxn modelId="{C04052F8-1355-49A7-B08B-9F70CCF21378}" srcId="{90D5FA06-2020-48DB-B305-9B7B7CA20891}" destId="{9735DE31-E58A-46A3-B889-3E36E4C68C53}" srcOrd="3" destOrd="0" parTransId="{2608712D-5C4E-41BC-8564-6D48F5C3139C}" sibTransId="{8D5C3194-C957-4969-B70C-2E13A1903239}"/>
    <dgm:cxn modelId="{BA966991-6FDD-4DE0-80C0-95E0764E3DA2}" type="presParOf" srcId="{87D7C4FB-1D08-4930-A6F5-866A41F696F5}" destId="{5F71834C-E84A-4A5C-9543-913BCEDCEE80}" srcOrd="0" destOrd="0" presId="urn:microsoft.com/office/officeart/2008/layout/LinedList"/>
    <dgm:cxn modelId="{41A7E94E-54C8-4268-8069-6CEA89D5A305}" type="presParOf" srcId="{87D7C4FB-1D08-4930-A6F5-866A41F696F5}" destId="{BFE62902-B10A-424F-9F9F-986654AE7B53}" srcOrd="1" destOrd="0" presId="urn:microsoft.com/office/officeart/2008/layout/LinedList"/>
    <dgm:cxn modelId="{9BEFB2D2-39BD-4E89-9241-87FE9C016E7D}" type="presParOf" srcId="{BFE62902-B10A-424F-9F9F-986654AE7B53}" destId="{54031A62-DDE0-4F18-B7B3-DB95A66FF11A}" srcOrd="0" destOrd="0" presId="urn:microsoft.com/office/officeart/2008/layout/LinedList"/>
    <dgm:cxn modelId="{4E66CA24-4BD8-4BE5-9D57-640D2FB7465F}" type="presParOf" srcId="{BFE62902-B10A-424F-9F9F-986654AE7B53}" destId="{01A9BEB9-EDA0-4269-B9C4-F912905B7885}" srcOrd="1" destOrd="0" presId="urn:microsoft.com/office/officeart/2008/layout/LinedList"/>
    <dgm:cxn modelId="{5BA377BB-3626-4B05-AD21-A7A03CE617C3}" type="presParOf" srcId="{87D7C4FB-1D08-4930-A6F5-866A41F696F5}" destId="{B234D160-8A4D-40D4-AA28-011A4527688B}" srcOrd="2" destOrd="0" presId="urn:microsoft.com/office/officeart/2008/layout/LinedList"/>
    <dgm:cxn modelId="{3A99D75C-7DBB-4DC4-8259-F6FFC1755309}" type="presParOf" srcId="{87D7C4FB-1D08-4930-A6F5-866A41F696F5}" destId="{1FABFF25-BA9D-4CFC-9236-BA23F8BA15EE}" srcOrd="3" destOrd="0" presId="urn:microsoft.com/office/officeart/2008/layout/LinedList"/>
    <dgm:cxn modelId="{A053A2D7-51D0-4F60-A56B-F30CCEF8D609}" type="presParOf" srcId="{1FABFF25-BA9D-4CFC-9236-BA23F8BA15EE}" destId="{DC629F39-412F-4DDB-A98C-A26FDF68B5B1}" srcOrd="0" destOrd="0" presId="urn:microsoft.com/office/officeart/2008/layout/LinedList"/>
    <dgm:cxn modelId="{017649F2-7D2D-4D60-B640-B237397C5EE4}" type="presParOf" srcId="{1FABFF25-BA9D-4CFC-9236-BA23F8BA15EE}" destId="{E729A53C-E39B-42D7-83F5-7A127EB5B920}" srcOrd="1" destOrd="0" presId="urn:microsoft.com/office/officeart/2008/layout/LinedList"/>
    <dgm:cxn modelId="{3C3F4BA0-09A7-40CE-A026-E417478AE92A}" type="presParOf" srcId="{87D7C4FB-1D08-4930-A6F5-866A41F696F5}" destId="{1D127C79-8992-4D88-952A-79ACEFC6DEAB}" srcOrd="4" destOrd="0" presId="urn:microsoft.com/office/officeart/2008/layout/LinedList"/>
    <dgm:cxn modelId="{39EF4D3D-212A-44A3-ADD6-1C2317A88EA1}" type="presParOf" srcId="{87D7C4FB-1D08-4930-A6F5-866A41F696F5}" destId="{DE90D5E8-7E4E-4FD8-8CD3-7A540CD655B9}" srcOrd="5" destOrd="0" presId="urn:microsoft.com/office/officeart/2008/layout/LinedList"/>
    <dgm:cxn modelId="{7489BD1A-732D-447B-9EC3-A5185555A913}" type="presParOf" srcId="{DE90D5E8-7E4E-4FD8-8CD3-7A540CD655B9}" destId="{4BDC7DDD-B6B1-4781-8EC2-D23818E36320}" srcOrd="0" destOrd="0" presId="urn:microsoft.com/office/officeart/2008/layout/LinedList"/>
    <dgm:cxn modelId="{BF3A0351-548E-4DA5-8520-2CF8ACDFB1B6}" type="presParOf" srcId="{DE90D5E8-7E4E-4FD8-8CD3-7A540CD655B9}" destId="{988DC6E8-736D-489C-9090-635D06D3794A}" srcOrd="1" destOrd="0" presId="urn:microsoft.com/office/officeart/2008/layout/LinedList"/>
    <dgm:cxn modelId="{37B5E8D9-59DE-45E4-A5C2-1BA58E3393AA}" type="presParOf" srcId="{87D7C4FB-1D08-4930-A6F5-866A41F696F5}" destId="{E621BA5F-6FBC-4D3D-957A-5332E2103EC6}" srcOrd="6" destOrd="0" presId="urn:microsoft.com/office/officeart/2008/layout/LinedList"/>
    <dgm:cxn modelId="{FFEA18D5-8E86-4056-88E7-850F154582B1}" type="presParOf" srcId="{87D7C4FB-1D08-4930-A6F5-866A41F696F5}" destId="{49EE26CD-B3FB-4A95-99DA-139DDDA64BD4}" srcOrd="7" destOrd="0" presId="urn:microsoft.com/office/officeart/2008/layout/LinedList"/>
    <dgm:cxn modelId="{F8AC5395-80E4-481C-AD72-6A9D893F67CD}" type="presParOf" srcId="{49EE26CD-B3FB-4A95-99DA-139DDDA64BD4}" destId="{81C2E2C0-963C-44EB-8E46-E7F5F0A9DF5B}" srcOrd="0" destOrd="0" presId="urn:microsoft.com/office/officeart/2008/layout/LinedList"/>
    <dgm:cxn modelId="{6C6B8950-924E-4F7E-B9D6-6F3CF963E7FD}" type="presParOf" srcId="{49EE26CD-B3FB-4A95-99DA-139DDDA64BD4}" destId="{B3DC73EC-09B4-4034-97DE-9B1E6C4E096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71834C-E84A-4A5C-9543-913BCEDCEE80}">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031A62-DDE0-4F18-B7B3-DB95A66FF11A}">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It’s very important to understand how ML systems generalize</a:t>
          </a:r>
        </a:p>
      </dsp:txBody>
      <dsp:txXfrm>
        <a:off x="0" y="0"/>
        <a:ext cx="6900512" cy="1384035"/>
      </dsp:txXfrm>
    </dsp:sp>
    <dsp:sp modelId="{B234D160-8A4D-40D4-AA28-011A4527688B}">
      <dsp:nvSpPr>
        <dsp:cNvPr id="0" name=""/>
        <dsp:cNvSpPr/>
      </dsp:nvSpPr>
      <dsp:spPr>
        <a:xfrm>
          <a:off x="0" y="1384035"/>
          <a:ext cx="6900512"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29F39-412F-4DDB-A98C-A26FDF68B5B1}">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Good performance measure on training data is insufficient </a:t>
          </a:r>
        </a:p>
      </dsp:txBody>
      <dsp:txXfrm>
        <a:off x="0" y="1384035"/>
        <a:ext cx="6900512" cy="1384035"/>
      </dsp:txXfrm>
    </dsp:sp>
    <dsp:sp modelId="{1D127C79-8992-4D88-952A-79ACEFC6DEAB}">
      <dsp:nvSpPr>
        <dsp:cNvPr id="0" name=""/>
        <dsp:cNvSpPr/>
      </dsp:nvSpPr>
      <dsp:spPr>
        <a:xfrm>
          <a:off x="0" y="2768070"/>
          <a:ext cx="6900512"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DC7DDD-B6B1-4781-8EC2-D23818E36320}">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Goal is how ML system predicts on new instances</a:t>
          </a:r>
        </a:p>
      </dsp:txBody>
      <dsp:txXfrm>
        <a:off x="0" y="2768070"/>
        <a:ext cx="6900512" cy="1384035"/>
      </dsp:txXfrm>
    </dsp:sp>
    <dsp:sp modelId="{E621BA5F-6FBC-4D3D-957A-5332E2103EC6}">
      <dsp:nvSpPr>
        <dsp:cNvPr id="0" name=""/>
        <dsp:cNvSpPr/>
      </dsp:nvSpPr>
      <dsp:spPr>
        <a:xfrm>
          <a:off x="0" y="4152105"/>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C2E2C0-963C-44EB-8E46-E7F5F0A9DF5B}">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There are two main approaches  Instance Based Learning and Model Based Learning</a:t>
          </a:r>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1A57B8-8F21-486A-828A-8272DCE47614}" type="datetimeFigureOut">
              <a:rPr lang="en-US" smtClean="0"/>
              <a:t>5/23/2026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16C7E-3017-4875-A2EA-9C135E7CD0B5}" type="slidenum">
              <a:rPr lang="en-US" smtClean="0"/>
              <a:t>‹#›</a:t>
            </a:fld>
            <a:endParaRPr lang="en-US"/>
          </a:p>
        </p:txBody>
      </p:sp>
    </p:spTree>
    <p:extLst>
      <p:ext uri="{BB962C8B-B14F-4D97-AF65-F5344CB8AC3E}">
        <p14:creationId xmlns:p14="http://schemas.microsoft.com/office/powerpoint/2010/main" val="1906838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E16C7E-3017-4875-A2EA-9C135E7CD0B5}" type="slidenum">
              <a:rPr lang="en-US" smtClean="0"/>
              <a:t>1</a:t>
            </a:fld>
            <a:endParaRPr lang="en-US"/>
          </a:p>
        </p:txBody>
      </p:sp>
    </p:spTree>
    <p:extLst>
      <p:ext uri="{BB962C8B-B14F-4D97-AF65-F5344CB8AC3E}">
        <p14:creationId xmlns:p14="http://schemas.microsoft.com/office/powerpoint/2010/main" val="3763380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is incapable of learning incrementally: must be trained using all available data</a:t>
            </a:r>
          </a:p>
          <a:p>
            <a:r>
              <a:rPr lang="en-US" dirty="0"/>
              <a:t>Trained Offline - take lot of time and resources</a:t>
            </a:r>
          </a:p>
          <a:p>
            <a:r>
              <a:rPr lang="en-US" dirty="0"/>
              <a:t>Trained first and then launched into production (Runs without learning any more) </a:t>
            </a:r>
          </a:p>
          <a:p>
            <a:r>
              <a:rPr lang="en-US" dirty="0"/>
              <a:t>Disadvantage – Model performance tends to decay slowly overtime  since the world evolves while the model remains unchanged. Solution to it is to retrain the model</a:t>
            </a:r>
          </a:p>
          <a:p>
            <a:r>
              <a:rPr lang="en-US" dirty="0"/>
              <a:t>How often you retrain depends on the use case- for e.g. cats and dogs model decays slowly as compare to making predictions on financial data</a:t>
            </a:r>
          </a:p>
          <a:p>
            <a:r>
              <a:rPr lang="en-US" dirty="0"/>
              <a:t>If you need to know about the new data then retrain from scratch on the full dataset and replace the old model with new one. Process of training, evaluation and launching is easy.</a:t>
            </a:r>
          </a:p>
          <a:p>
            <a:r>
              <a:rPr lang="en-US" dirty="0"/>
              <a:t>Solution is simple and often works fine but training using the full set of data can take many hours so you would typically train 24 hours or weekly </a:t>
            </a:r>
          </a:p>
          <a:p>
            <a:r>
              <a:rPr lang="en-US" dirty="0"/>
              <a:t>Training on the full set of data requires lot of resources and money. If data is huge then even it is impossible to use Batch Learning</a:t>
            </a:r>
          </a:p>
          <a:p>
            <a:endParaRPr lang="en-US" dirty="0"/>
          </a:p>
        </p:txBody>
      </p:sp>
      <p:sp>
        <p:nvSpPr>
          <p:cNvPr id="4" name="Slide Number Placeholder 3"/>
          <p:cNvSpPr>
            <a:spLocks noGrp="1"/>
          </p:cNvSpPr>
          <p:nvPr>
            <p:ph type="sldNum" sz="quarter" idx="5"/>
          </p:nvPr>
        </p:nvSpPr>
        <p:spPr/>
        <p:txBody>
          <a:bodyPr/>
          <a:lstStyle/>
          <a:p>
            <a:fld id="{35E16C7E-3017-4875-A2EA-9C135E7CD0B5}" type="slidenum">
              <a:rPr lang="en-US" smtClean="0"/>
              <a:t>7</a:t>
            </a:fld>
            <a:endParaRPr lang="en-US"/>
          </a:p>
        </p:txBody>
      </p:sp>
    </p:spTree>
    <p:extLst>
      <p:ext uri="{BB962C8B-B14F-4D97-AF65-F5344CB8AC3E}">
        <p14:creationId xmlns:p14="http://schemas.microsoft.com/office/powerpoint/2010/main" val="334427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generalize</a:t>
            </a:r>
          </a:p>
          <a:p>
            <a:endParaRPr lang="en-US" dirty="0"/>
          </a:p>
        </p:txBody>
      </p:sp>
      <p:sp>
        <p:nvSpPr>
          <p:cNvPr id="4" name="Slide Number Placeholder 3"/>
          <p:cNvSpPr>
            <a:spLocks noGrp="1"/>
          </p:cNvSpPr>
          <p:nvPr>
            <p:ph type="sldNum" sz="quarter" idx="5"/>
          </p:nvPr>
        </p:nvSpPr>
        <p:spPr/>
        <p:txBody>
          <a:bodyPr/>
          <a:lstStyle/>
          <a:p>
            <a:fld id="{35E16C7E-3017-4875-A2EA-9C135E7CD0B5}" type="slidenum">
              <a:rPr lang="en-US" smtClean="0"/>
              <a:t>9</a:t>
            </a:fld>
            <a:endParaRPr lang="en-US"/>
          </a:p>
        </p:txBody>
      </p:sp>
    </p:spTree>
    <p:extLst>
      <p:ext uri="{BB962C8B-B14F-4D97-AF65-F5344CB8AC3E}">
        <p14:creationId xmlns:p14="http://schemas.microsoft.com/office/powerpoint/2010/main" val="63590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2EEDA-0AB8-6332-0E01-428BBDBC7C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7FADD0-4C08-0D7B-8904-D7DF08B9D2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39798F-CF76-F242-FADB-7DED50ADE07D}"/>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5E0D8C20-EBFF-221F-9A96-499D8BC4B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E206D-638A-7E8E-CBA7-3861054E8DB8}"/>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1449132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99DF9-C5FC-E5CA-A533-1D0A0D0C27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55D818-78C8-CC9F-7B73-E72CD2EED7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900459-50ED-BABF-A6C0-1114EEF7E3A6}"/>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82BE5437-4B90-EDBF-0E88-F4001AED1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E9CDE9-8380-8718-66C5-543924838AD9}"/>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3804567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8368-F34F-7054-7E09-C05AE2E256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F89735-4FBE-B359-3EDD-31C3A0FE83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A78ED-8DAB-6C06-DB36-D856753592B3}"/>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148173F1-EC36-7788-5A17-ABAC8A0B43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EF6280-14E6-E3BC-03D0-736BC86C3672}"/>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1099590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DCF1-AE07-1A91-B117-189E812070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6ACD36-8752-8E99-2A88-FE525D039A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F07961-380D-B1C0-3F72-098ED41D0E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B2066E-0F79-6808-2767-BFDFD55C533D}"/>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6" name="Footer Placeholder 5">
            <a:extLst>
              <a:ext uri="{FF2B5EF4-FFF2-40B4-BE49-F238E27FC236}">
                <a16:creationId xmlns:a16="http://schemas.microsoft.com/office/drawing/2014/main" id="{788CC457-F9D5-3837-DD42-B6ED808BF6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0D74CD-F761-E07A-4C30-522A5A78D012}"/>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3256093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2ADF3-A8D2-8364-A896-305C5C6CE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8D3119-241D-310F-E7B5-8BE1CD4DF1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729B9B-E349-404D-9CBF-8704096CC7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1D465C-801A-04DA-4476-184E4D71CC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D79DC4-D1C0-FC60-BAC4-84DBEEDB54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AFCEC3-0085-5D5F-A7C2-7599B716A05C}"/>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8" name="Footer Placeholder 7">
            <a:extLst>
              <a:ext uri="{FF2B5EF4-FFF2-40B4-BE49-F238E27FC236}">
                <a16:creationId xmlns:a16="http://schemas.microsoft.com/office/drawing/2014/main" id="{1C6484F7-666A-6F44-3573-E444826319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C7A5AC-B1BD-670F-8862-6343897DA168}"/>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3767178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0171-3630-C21A-4332-693509DE15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83D69E-EAFD-1CCD-37CA-80B9D68B7E8D}"/>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4" name="Footer Placeholder 3">
            <a:extLst>
              <a:ext uri="{FF2B5EF4-FFF2-40B4-BE49-F238E27FC236}">
                <a16:creationId xmlns:a16="http://schemas.microsoft.com/office/drawing/2014/main" id="{592B4212-AA8B-026E-5BFF-FB0B89CACF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71B226-8E5A-00E9-A10E-C53C76699C57}"/>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2666019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BAAA61-516A-E90E-1EB7-06866BAC088F}"/>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3" name="Footer Placeholder 2">
            <a:extLst>
              <a:ext uri="{FF2B5EF4-FFF2-40B4-BE49-F238E27FC236}">
                <a16:creationId xmlns:a16="http://schemas.microsoft.com/office/drawing/2014/main" id="{866FD794-10D2-C09D-10D8-16DADDD3A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70BCC5-3768-019D-366D-C24AFF0619E3}"/>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4109776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FA7C-3672-BA2B-3F5F-E2A46F955D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FBF4C-4AE6-0E95-6EC6-729BD471AD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67912-8100-9430-38A8-C90F2B0008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6BE388-C79F-2C1A-C595-D985B2469183}"/>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6" name="Footer Placeholder 5">
            <a:extLst>
              <a:ext uri="{FF2B5EF4-FFF2-40B4-BE49-F238E27FC236}">
                <a16:creationId xmlns:a16="http://schemas.microsoft.com/office/drawing/2014/main" id="{C90ABECD-4DB0-41FE-62A1-8CF4BFEB7D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A4177-F02A-537A-F8BE-C9402E321F7B}"/>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3415430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B965C-EB5D-8A75-B371-8EC72D4524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6BBEAB-8714-487A-677D-FB59B34C0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4942F-7EE2-8B25-202A-B43B0A5D94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9AAC9-2099-572B-7BED-F108E92BAB91}"/>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6" name="Footer Placeholder 5">
            <a:extLst>
              <a:ext uri="{FF2B5EF4-FFF2-40B4-BE49-F238E27FC236}">
                <a16:creationId xmlns:a16="http://schemas.microsoft.com/office/drawing/2014/main" id="{5E2A7552-B26F-D88D-F051-F19313408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5248F9-DDEB-DD31-6C83-97EF2362549F}"/>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1495590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A3CD-ED1A-B3B0-F04A-082F3EDED8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87E7F1-328A-E2D7-0EF0-5EFD130BF1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B0A64-4ECA-8A41-DCE2-EBA723BCDF79}"/>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136F19DE-5275-AAA3-ACDA-EA48D948F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069DE-E5E5-BE8B-A1F7-5E9171CAFF44}"/>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2769070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9DEA52-9729-ECFC-BFD7-ED16E2FDC7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E29D1D-EE0F-BFE4-4F3A-FFEBFCA185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D829C-BB2A-23D8-AFD5-4C5DF084F4CE}"/>
              </a:ext>
            </a:extLst>
          </p:cNvPr>
          <p:cNvSpPr>
            <a:spLocks noGrp="1"/>
          </p:cNvSpPr>
          <p:nvPr>
            <p:ph type="dt" sz="half" idx="10"/>
          </p:nvPr>
        </p:nvSpPr>
        <p:spPr/>
        <p:txBody>
          <a:body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C10E9F8C-AB41-C1A0-9A98-9DE069429E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CC85D-78FD-0096-EFAF-19F1C682A21F}"/>
              </a:ext>
            </a:extLst>
          </p:cNvPr>
          <p:cNvSpPr>
            <a:spLocks noGrp="1"/>
          </p:cNvSpPr>
          <p:nvPr>
            <p:ph type="sldNum" sz="quarter" idx="12"/>
          </p:nvPr>
        </p:nvSpPr>
        <p:spPr/>
        <p:txBody>
          <a:bodyPr/>
          <a:lstStyle/>
          <a:p>
            <a:fld id="{6B7D3CD3-9AAB-44A0-84C9-BFFE2044E338}" type="slidenum">
              <a:rPr lang="en-US" smtClean="0"/>
              <a:t>‹#›</a:t>
            </a:fld>
            <a:endParaRPr lang="en-US"/>
          </a:p>
        </p:txBody>
      </p:sp>
    </p:spTree>
    <p:extLst>
      <p:ext uri="{BB962C8B-B14F-4D97-AF65-F5344CB8AC3E}">
        <p14:creationId xmlns:p14="http://schemas.microsoft.com/office/powerpoint/2010/main" val="2579619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4ABE3D-E985-5A34-7FA3-A562F45A52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B6F7CF-D14E-2F3D-7587-22597A72FD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0C58-B53B-8703-18F0-142B86CA3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B64661-E216-43CF-8484-5BEDFCE13C4C}" type="datetimeFigureOut">
              <a:rPr lang="en-US" smtClean="0"/>
              <a:t>5/23/2026</a:t>
            </a:fld>
            <a:endParaRPr lang="en-US"/>
          </a:p>
        </p:txBody>
      </p:sp>
      <p:sp>
        <p:nvSpPr>
          <p:cNvPr id="5" name="Footer Placeholder 4">
            <a:extLst>
              <a:ext uri="{FF2B5EF4-FFF2-40B4-BE49-F238E27FC236}">
                <a16:creationId xmlns:a16="http://schemas.microsoft.com/office/drawing/2014/main" id="{EF5E3F65-72C6-3D0E-90EE-CB6786A294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2AA957-7F5F-01D9-8408-2EB67A1078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7D3CD3-9AAB-44A0-84C9-BFFE2044E338}" type="slidenum">
              <a:rPr lang="en-US" smtClean="0"/>
              <a:t>‹#›</a:t>
            </a:fld>
            <a:endParaRPr lang="en-US"/>
          </a:p>
        </p:txBody>
      </p:sp>
    </p:spTree>
    <p:extLst>
      <p:ext uri="{BB962C8B-B14F-4D97-AF65-F5344CB8AC3E}">
        <p14:creationId xmlns:p14="http://schemas.microsoft.com/office/powerpoint/2010/main" val="2719203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en.wikipedia.org/wiki/Arthur_Samuel_(computer_scientist)#cite_note-mccarthy-ai90-2" TargetMode="External"/><Relationship Id="rId3" Type="http://schemas.openxmlformats.org/officeDocument/2006/relationships/image" Target="../media/image1.png"/><Relationship Id="rId7" Type="http://schemas.openxmlformats.org/officeDocument/2006/relationships/hyperlink" Target="https://en.wikipedia.org/wiki/Artificial_intelligenc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en.wikipedia.org/wiki/Computer_gaming" TargetMode="External"/><Relationship Id="rId5" Type="http://schemas.openxmlformats.org/officeDocument/2006/relationships/hyperlink" Target="https://en.wikipedia.org/wiki/Computer_scientist" TargetMode="External"/><Relationship Id="rId10" Type="http://schemas.openxmlformats.org/officeDocument/2006/relationships/hyperlink" Target="https://en.wikipedia.org/wiki/Arthur_Samuel_(computer_scientist)#cite_note-4" TargetMode="External"/><Relationship Id="rId4" Type="http://schemas.openxmlformats.org/officeDocument/2006/relationships/hyperlink" Target="https://en.wikipedia.org/wiki/Arthur_Samuel_(computer_scientist)#cite_note-history-92-3" TargetMode="External"/><Relationship Id="rId9" Type="http://schemas.openxmlformats.org/officeDocument/2006/relationships/hyperlink" Target="https://en.wikipedia.org/wiki/Machine_learn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23BEB6B-7FD5-E9D0-FB58-97E7C4834D11}"/>
              </a:ext>
            </a:extLst>
          </p:cNvPr>
          <p:cNvPicPr>
            <a:picLocks noChangeAspect="1"/>
          </p:cNvPicPr>
          <p:nvPr/>
        </p:nvPicPr>
        <p:blipFill>
          <a:blip r:embed="rId3"/>
          <a:srcRect r="14697" b="1"/>
          <a:stretch>
            <a:fillRect/>
          </a:stretch>
        </p:blipFill>
        <p:spPr>
          <a:xfrm>
            <a:off x="1" y="10"/>
            <a:ext cx="9669642" cy="6857990"/>
          </a:xfrm>
          <a:prstGeom prst="rect">
            <a:avLst/>
          </a:prstGeom>
        </p:spPr>
      </p:pic>
      <p:sp>
        <p:nvSpPr>
          <p:cNvPr id="31" name="Rectangle 3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3D63B6-D3A7-6028-C7B0-8F82869EC5F5}"/>
              </a:ext>
            </a:extLst>
          </p:cNvPr>
          <p:cNvSpPr>
            <a:spLocks noGrp="1"/>
          </p:cNvSpPr>
          <p:nvPr>
            <p:ph type="title"/>
          </p:nvPr>
        </p:nvSpPr>
        <p:spPr>
          <a:xfrm>
            <a:off x="7531610" y="365125"/>
            <a:ext cx="3822189" cy="1899912"/>
          </a:xfrm>
        </p:spPr>
        <p:txBody>
          <a:bodyPr>
            <a:normAutofit/>
          </a:bodyPr>
          <a:lstStyle/>
          <a:p>
            <a:r>
              <a:rPr lang="en-US" sz="4000" dirty="0"/>
              <a:t>What is Machine Learning</a:t>
            </a:r>
          </a:p>
        </p:txBody>
      </p:sp>
      <p:sp>
        <p:nvSpPr>
          <p:cNvPr id="3" name="Content Placeholder 2">
            <a:extLst>
              <a:ext uri="{FF2B5EF4-FFF2-40B4-BE49-F238E27FC236}">
                <a16:creationId xmlns:a16="http://schemas.microsoft.com/office/drawing/2014/main" id="{9D2B206C-8FE8-ACB1-3996-B01A593E2B1D}"/>
              </a:ext>
            </a:extLst>
          </p:cNvPr>
          <p:cNvSpPr>
            <a:spLocks noGrp="1"/>
          </p:cNvSpPr>
          <p:nvPr>
            <p:ph idx="1"/>
          </p:nvPr>
        </p:nvSpPr>
        <p:spPr>
          <a:xfrm>
            <a:off x="7531610" y="2434201"/>
            <a:ext cx="3822189" cy="3742762"/>
          </a:xfrm>
        </p:spPr>
        <p:txBody>
          <a:bodyPr>
            <a:normAutofit/>
          </a:bodyPr>
          <a:lstStyle/>
          <a:p>
            <a:r>
              <a:rPr lang="en-US" sz="2000" dirty="0"/>
              <a:t>ML is the science of computers so they can learn from data</a:t>
            </a:r>
          </a:p>
          <a:p>
            <a:r>
              <a:rPr lang="en-US" sz="2000" b="1" i="0" dirty="0">
                <a:solidFill>
                  <a:srgbClr val="202122"/>
                </a:solidFill>
                <a:effectLst/>
                <a:latin typeface="Arial" panose="020B0604020202020204" pitchFamily="34" charset="0"/>
              </a:rPr>
              <a:t>Arthur Lee Samuel</a:t>
            </a:r>
            <a:r>
              <a:rPr lang="en-US" sz="2000" b="0" i="0" dirty="0">
                <a:solidFill>
                  <a:srgbClr val="202122"/>
                </a:solidFill>
                <a:effectLst/>
                <a:latin typeface="Arial" panose="020B0604020202020204" pitchFamily="34" charset="0"/>
              </a:rPr>
              <a:t>  - </a:t>
            </a:r>
            <a:r>
              <a:rPr lang="en-US" sz="2000" dirty="0"/>
              <a:t>Study that gives computers the ability to learn without being programmed</a:t>
            </a:r>
          </a:p>
        </p:txBody>
      </p:sp>
      <p:sp>
        <p:nvSpPr>
          <p:cNvPr id="7" name="TextBox 6">
            <a:extLst>
              <a:ext uri="{FF2B5EF4-FFF2-40B4-BE49-F238E27FC236}">
                <a16:creationId xmlns:a16="http://schemas.microsoft.com/office/drawing/2014/main" id="{89EEACF7-EB31-B445-70D7-5519068DE19B}"/>
              </a:ext>
            </a:extLst>
          </p:cNvPr>
          <p:cNvSpPr txBox="1"/>
          <p:nvPr/>
        </p:nvSpPr>
        <p:spPr>
          <a:xfrm>
            <a:off x="6933184" y="4868799"/>
            <a:ext cx="4710176" cy="1477328"/>
          </a:xfrm>
          <a:prstGeom prst="rect">
            <a:avLst/>
          </a:prstGeom>
          <a:noFill/>
        </p:spPr>
        <p:txBody>
          <a:bodyPr wrap="square">
            <a:spAutoFit/>
          </a:bodyPr>
          <a:lstStyle/>
          <a:p>
            <a:pPr>
              <a:spcAft>
                <a:spcPts val="600"/>
              </a:spcAft>
            </a:pPr>
            <a:r>
              <a:rPr lang="en-US" b="1" i="0" dirty="0">
                <a:solidFill>
                  <a:srgbClr val="202122"/>
                </a:solidFill>
                <a:effectLst/>
                <a:latin typeface="Arial" panose="020B0604020202020204" pitchFamily="34" charset="0"/>
              </a:rPr>
              <a:t>Arthur Lee Samuel</a:t>
            </a:r>
            <a:r>
              <a:rPr lang="en-US" b="0" i="0" dirty="0">
                <a:solidFill>
                  <a:srgbClr val="202122"/>
                </a:solidFill>
                <a:effectLst/>
                <a:latin typeface="Arial" panose="020B0604020202020204" pitchFamily="34" charset="0"/>
              </a:rPr>
              <a:t> (December 5, 1901 – July 29, 1990</a:t>
            </a:r>
            <a:r>
              <a:rPr lang="en-US" b="0" i="0" u="none" strike="noStrike" baseline="30000" dirty="0">
                <a:solidFill>
                  <a:srgbClr val="3366CC"/>
                </a:solidFill>
                <a:effectLst/>
                <a:latin typeface="Arial" panose="020B0604020202020204" pitchFamily="34" charset="0"/>
                <a:hlinkClick r:id="rId4"/>
              </a:rPr>
              <a:t>[3]</a:t>
            </a:r>
            <a:r>
              <a:rPr lang="en-US" b="0" i="0" dirty="0">
                <a:solidFill>
                  <a:srgbClr val="202122"/>
                </a:solidFill>
                <a:effectLst/>
                <a:latin typeface="Arial" panose="020B0604020202020204" pitchFamily="34" charset="0"/>
              </a:rPr>
              <a:t>) was an American </a:t>
            </a:r>
            <a:r>
              <a:rPr lang="en-US" b="0" i="0" u="none" strike="noStrike" dirty="0">
                <a:solidFill>
                  <a:srgbClr val="3366CC"/>
                </a:solidFill>
                <a:effectLst/>
                <a:latin typeface="Arial" panose="020B0604020202020204" pitchFamily="34" charset="0"/>
                <a:hlinkClick r:id="rId5" tooltip="Computer scientist"/>
              </a:rPr>
              <a:t>computer scientist</a:t>
            </a:r>
            <a:r>
              <a:rPr lang="en-US" b="0" i="0" dirty="0">
                <a:solidFill>
                  <a:srgbClr val="202122"/>
                </a:solidFill>
                <a:effectLst/>
                <a:latin typeface="Arial" panose="020B0604020202020204" pitchFamily="34" charset="0"/>
              </a:rPr>
              <a:t> and pioneer in the field of </a:t>
            </a:r>
            <a:r>
              <a:rPr lang="en-US" b="0" i="0" u="none" strike="noStrike" dirty="0">
                <a:solidFill>
                  <a:srgbClr val="3366CC"/>
                </a:solidFill>
                <a:effectLst/>
                <a:latin typeface="Arial" panose="020B0604020202020204" pitchFamily="34" charset="0"/>
                <a:hlinkClick r:id="rId6" tooltip="Computer gaming"/>
              </a:rPr>
              <a:t>computer gaming</a:t>
            </a:r>
            <a:r>
              <a:rPr lang="en-US" b="0" i="0" dirty="0">
                <a:solidFill>
                  <a:srgbClr val="202122"/>
                </a:solidFill>
                <a:effectLst/>
                <a:latin typeface="Arial" panose="020B0604020202020204" pitchFamily="34" charset="0"/>
              </a:rPr>
              <a:t> and </a:t>
            </a:r>
            <a:r>
              <a:rPr lang="en-US" b="0" i="0" u="none" strike="noStrike" dirty="0">
                <a:solidFill>
                  <a:srgbClr val="3366CC"/>
                </a:solidFill>
                <a:effectLst/>
                <a:latin typeface="Arial" panose="020B0604020202020204" pitchFamily="34" charset="0"/>
                <a:hlinkClick r:id="rId7" tooltip="Artificial intelligence"/>
              </a:rPr>
              <a:t>artificial intelligence</a:t>
            </a:r>
            <a:r>
              <a:rPr lang="en-US" b="0" i="0" dirty="0">
                <a:solidFill>
                  <a:srgbClr val="202122"/>
                </a:solidFill>
                <a:effectLst/>
                <a:latin typeface="Arial" panose="020B0604020202020204" pitchFamily="34" charset="0"/>
              </a:rPr>
              <a:t>.</a:t>
            </a:r>
            <a:r>
              <a:rPr lang="en-US" b="0" i="0" u="none" strike="noStrike" baseline="30000" dirty="0">
                <a:solidFill>
                  <a:srgbClr val="3366CC"/>
                </a:solidFill>
                <a:effectLst/>
                <a:latin typeface="Arial" panose="020B0604020202020204" pitchFamily="34" charset="0"/>
                <a:hlinkClick r:id="rId8"/>
              </a:rPr>
              <a:t>[2]</a:t>
            </a:r>
            <a:r>
              <a:rPr lang="en-US" b="0" i="0" dirty="0">
                <a:solidFill>
                  <a:srgbClr val="202122"/>
                </a:solidFill>
                <a:effectLst/>
                <a:latin typeface="Arial" panose="020B0604020202020204" pitchFamily="34" charset="0"/>
              </a:rPr>
              <a:t> He coined the term </a:t>
            </a:r>
            <a:r>
              <a:rPr lang="en-US" b="0" i="1" u="none" strike="noStrike" dirty="0">
                <a:solidFill>
                  <a:srgbClr val="3366CC"/>
                </a:solidFill>
                <a:effectLst/>
                <a:latin typeface="Arial" panose="020B0604020202020204" pitchFamily="34" charset="0"/>
                <a:hlinkClick r:id="rId9" tooltip="Machine learning"/>
              </a:rPr>
              <a:t>machine learning</a:t>
            </a:r>
            <a:r>
              <a:rPr lang="en-US" b="0" i="0" dirty="0">
                <a:solidFill>
                  <a:srgbClr val="202122"/>
                </a:solidFill>
                <a:effectLst/>
                <a:latin typeface="Arial" panose="020B0604020202020204" pitchFamily="34" charset="0"/>
              </a:rPr>
              <a:t> in 1959.</a:t>
            </a:r>
            <a:r>
              <a:rPr lang="en-US" b="0" i="0" u="none" strike="noStrike" baseline="30000" dirty="0">
                <a:solidFill>
                  <a:srgbClr val="3366CC"/>
                </a:solidFill>
                <a:effectLst/>
                <a:latin typeface="Arial" panose="020B0604020202020204" pitchFamily="34" charset="0"/>
                <a:hlinkClick r:id="rId10"/>
              </a:rPr>
              <a:t>[4]</a:t>
            </a:r>
            <a:endParaRPr lang="en-US" dirty="0"/>
          </a:p>
        </p:txBody>
      </p:sp>
    </p:spTree>
    <p:extLst>
      <p:ext uri="{BB962C8B-B14F-4D97-AF65-F5344CB8AC3E}">
        <p14:creationId xmlns:p14="http://schemas.microsoft.com/office/powerpoint/2010/main" val="1374592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A08B-5D32-B07F-4866-12D50202DA78}"/>
              </a:ext>
            </a:extLst>
          </p:cNvPr>
          <p:cNvSpPr>
            <a:spLocks noGrp="1"/>
          </p:cNvSpPr>
          <p:nvPr>
            <p:ph type="title"/>
          </p:nvPr>
        </p:nvSpPr>
        <p:spPr>
          <a:xfrm>
            <a:off x="838200" y="365126"/>
            <a:ext cx="10515600" cy="814650"/>
          </a:xfrm>
        </p:spPr>
        <p:txBody>
          <a:bodyPr/>
          <a:lstStyle/>
          <a:p>
            <a:r>
              <a:rPr lang="en-US" dirty="0"/>
              <a:t>Why use ML</a:t>
            </a:r>
          </a:p>
        </p:txBody>
      </p:sp>
      <p:sp>
        <p:nvSpPr>
          <p:cNvPr id="4" name="Rectangle 3">
            <a:extLst>
              <a:ext uri="{FF2B5EF4-FFF2-40B4-BE49-F238E27FC236}">
                <a16:creationId xmlns:a16="http://schemas.microsoft.com/office/drawing/2014/main" id="{72C1E84C-EA49-1F0D-8A79-2931873990C4}"/>
              </a:ext>
            </a:extLst>
          </p:cNvPr>
          <p:cNvSpPr/>
          <p:nvPr/>
        </p:nvSpPr>
        <p:spPr>
          <a:xfrm>
            <a:off x="91449" y="2850186"/>
            <a:ext cx="117856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Study the problem</a:t>
            </a:r>
          </a:p>
        </p:txBody>
      </p:sp>
      <p:sp>
        <p:nvSpPr>
          <p:cNvPr id="5" name="Rectangle 4">
            <a:extLst>
              <a:ext uri="{FF2B5EF4-FFF2-40B4-BE49-F238E27FC236}">
                <a16:creationId xmlns:a16="http://schemas.microsoft.com/office/drawing/2014/main" id="{C6232049-7299-61B5-2821-A03E360DA611}"/>
              </a:ext>
            </a:extLst>
          </p:cNvPr>
          <p:cNvSpPr/>
          <p:nvPr/>
        </p:nvSpPr>
        <p:spPr>
          <a:xfrm>
            <a:off x="1869440" y="2343773"/>
            <a:ext cx="1564640" cy="14278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Rules</a:t>
            </a:r>
          </a:p>
          <a:p>
            <a:pPr algn="ctr"/>
            <a:r>
              <a:rPr lang="en-US" dirty="0">
                <a:solidFill>
                  <a:schemeClr val="tx1"/>
                </a:solidFill>
              </a:rPr>
              <a:t>“Subscribe”</a:t>
            </a:r>
          </a:p>
          <a:p>
            <a:pPr algn="ctr"/>
            <a:r>
              <a:rPr lang="en-US" dirty="0">
                <a:solidFill>
                  <a:schemeClr val="tx1"/>
                </a:solidFill>
              </a:rPr>
              <a:t>“For U” </a:t>
            </a:r>
          </a:p>
          <a:p>
            <a:pPr algn="ctr"/>
            <a:r>
              <a:rPr lang="en-US" dirty="0">
                <a:solidFill>
                  <a:schemeClr val="tx1"/>
                </a:solidFill>
              </a:rPr>
              <a:t>“Zero to Hero”</a:t>
            </a:r>
          </a:p>
        </p:txBody>
      </p:sp>
      <p:sp>
        <p:nvSpPr>
          <p:cNvPr id="6" name="Flowchart: Decision 5">
            <a:extLst>
              <a:ext uri="{FF2B5EF4-FFF2-40B4-BE49-F238E27FC236}">
                <a16:creationId xmlns:a16="http://schemas.microsoft.com/office/drawing/2014/main" id="{1A98F018-E043-4DA7-B789-904EE391103A}"/>
              </a:ext>
            </a:extLst>
          </p:cNvPr>
          <p:cNvSpPr/>
          <p:nvPr/>
        </p:nvSpPr>
        <p:spPr>
          <a:xfrm>
            <a:off x="4328160" y="2609931"/>
            <a:ext cx="1351280" cy="92230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Evaluate</a:t>
            </a:r>
          </a:p>
        </p:txBody>
      </p:sp>
      <p:sp>
        <p:nvSpPr>
          <p:cNvPr id="7" name="Rectangle 6">
            <a:extLst>
              <a:ext uri="{FF2B5EF4-FFF2-40B4-BE49-F238E27FC236}">
                <a16:creationId xmlns:a16="http://schemas.microsoft.com/office/drawing/2014/main" id="{DCC315E2-9468-7A9C-7B56-F7D8E3A275A4}"/>
              </a:ext>
            </a:extLst>
          </p:cNvPr>
          <p:cNvSpPr/>
          <p:nvPr/>
        </p:nvSpPr>
        <p:spPr>
          <a:xfrm>
            <a:off x="4221480" y="1299040"/>
            <a:ext cx="156464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Launch</a:t>
            </a:r>
          </a:p>
        </p:txBody>
      </p:sp>
      <p:cxnSp>
        <p:nvCxnSpPr>
          <p:cNvPr id="10" name="Straight Arrow Connector 9">
            <a:extLst>
              <a:ext uri="{FF2B5EF4-FFF2-40B4-BE49-F238E27FC236}">
                <a16:creationId xmlns:a16="http://schemas.microsoft.com/office/drawing/2014/main" id="{66E335D3-B236-F902-929F-BF4ED1055FA4}"/>
              </a:ext>
            </a:extLst>
          </p:cNvPr>
          <p:cNvCxnSpPr>
            <a:cxnSpLocks/>
            <a:endCxn id="5" idx="1"/>
          </p:cNvCxnSpPr>
          <p:nvPr/>
        </p:nvCxnSpPr>
        <p:spPr>
          <a:xfrm flipV="1">
            <a:off x="1239520" y="3057721"/>
            <a:ext cx="629920" cy="13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292C2DB-19C1-6182-840A-2F45D8C5FCCB}"/>
              </a:ext>
            </a:extLst>
          </p:cNvPr>
          <p:cNvCxnSpPr>
            <a:cxnSpLocks/>
            <a:stCxn id="5" idx="3"/>
            <a:endCxn id="6" idx="1"/>
          </p:cNvCxnSpPr>
          <p:nvPr/>
        </p:nvCxnSpPr>
        <p:spPr>
          <a:xfrm>
            <a:off x="3434080" y="3057721"/>
            <a:ext cx="894080" cy="133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C817C72-2575-75B7-AEB2-C8F5EF3B42A0}"/>
              </a:ext>
            </a:extLst>
          </p:cNvPr>
          <p:cNvCxnSpPr>
            <a:stCxn id="6" idx="0"/>
            <a:endCxn id="7" idx="2"/>
          </p:cNvCxnSpPr>
          <p:nvPr/>
        </p:nvCxnSpPr>
        <p:spPr>
          <a:xfrm flipV="1">
            <a:off x="5003800" y="1821682"/>
            <a:ext cx="0" cy="788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078F34F9-CCAB-1610-9235-BB4ACC19804B}"/>
              </a:ext>
            </a:extLst>
          </p:cNvPr>
          <p:cNvCxnSpPr>
            <a:cxnSpLocks/>
            <a:stCxn id="6" idx="2"/>
          </p:cNvCxnSpPr>
          <p:nvPr/>
        </p:nvCxnSpPr>
        <p:spPr>
          <a:xfrm rot="5400000" flipH="1">
            <a:off x="2727104" y="1255544"/>
            <a:ext cx="199832" cy="4353560"/>
          </a:xfrm>
          <a:prstGeom prst="bentConnector3">
            <a:avLst>
              <a:gd name="adj1" fmla="val -668582"/>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AF367E54-C33E-052C-43AD-E7EF6483BBF2}"/>
              </a:ext>
            </a:extLst>
          </p:cNvPr>
          <p:cNvSpPr/>
          <p:nvPr/>
        </p:nvSpPr>
        <p:spPr>
          <a:xfrm>
            <a:off x="1950720" y="4540080"/>
            <a:ext cx="156464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Analyze Errors</a:t>
            </a:r>
          </a:p>
        </p:txBody>
      </p:sp>
      <p:sp>
        <p:nvSpPr>
          <p:cNvPr id="27" name="Rectangle 26">
            <a:extLst>
              <a:ext uri="{FF2B5EF4-FFF2-40B4-BE49-F238E27FC236}">
                <a16:creationId xmlns:a16="http://schemas.microsoft.com/office/drawing/2014/main" id="{C7D2924D-F470-5FFE-20A5-49F3CF339EB8}"/>
              </a:ext>
            </a:extLst>
          </p:cNvPr>
          <p:cNvSpPr/>
          <p:nvPr/>
        </p:nvSpPr>
        <p:spPr>
          <a:xfrm>
            <a:off x="6246985" y="2767333"/>
            <a:ext cx="117856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Study the problem</a:t>
            </a:r>
          </a:p>
        </p:txBody>
      </p:sp>
      <p:sp>
        <p:nvSpPr>
          <p:cNvPr id="28" name="Rectangle 27">
            <a:extLst>
              <a:ext uri="{FF2B5EF4-FFF2-40B4-BE49-F238E27FC236}">
                <a16:creationId xmlns:a16="http://schemas.microsoft.com/office/drawing/2014/main" id="{6A3BAE37-4D5C-AB97-D1A3-190522DB45D7}"/>
              </a:ext>
            </a:extLst>
          </p:cNvPr>
          <p:cNvSpPr/>
          <p:nvPr/>
        </p:nvSpPr>
        <p:spPr>
          <a:xfrm>
            <a:off x="8055465" y="2662178"/>
            <a:ext cx="1564640" cy="729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 the Model</a:t>
            </a:r>
            <a:endParaRPr lang="en-US" dirty="0">
              <a:solidFill>
                <a:schemeClr val="tx1"/>
              </a:solidFill>
            </a:endParaRPr>
          </a:p>
        </p:txBody>
      </p:sp>
      <p:sp>
        <p:nvSpPr>
          <p:cNvPr id="29" name="Flowchart: Decision 28">
            <a:extLst>
              <a:ext uri="{FF2B5EF4-FFF2-40B4-BE49-F238E27FC236}">
                <a16:creationId xmlns:a16="http://schemas.microsoft.com/office/drawing/2014/main" id="{10BCDF3A-07AF-ECA3-EF82-866034A3EDB1}"/>
              </a:ext>
            </a:extLst>
          </p:cNvPr>
          <p:cNvSpPr/>
          <p:nvPr/>
        </p:nvSpPr>
        <p:spPr>
          <a:xfrm>
            <a:off x="10514185" y="2567498"/>
            <a:ext cx="1351280" cy="92230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Evaluate</a:t>
            </a:r>
          </a:p>
        </p:txBody>
      </p:sp>
      <p:sp>
        <p:nvSpPr>
          <p:cNvPr id="30" name="Rectangle 29">
            <a:extLst>
              <a:ext uri="{FF2B5EF4-FFF2-40B4-BE49-F238E27FC236}">
                <a16:creationId xmlns:a16="http://schemas.microsoft.com/office/drawing/2014/main" id="{760F65F0-9622-63B5-283C-B847A321A6FB}"/>
              </a:ext>
            </a:extLst>
          </p:cNvPr>
          <p:cNvSpPr/>
          <p:nvPr/>
        </p:nvSpPr>
        <p:spPr>
          <a:xfrm>
            <a:off x="10407505" y="1256607"/>
            <a:ext cx="156464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Launch</a:t>
            </a:r>
          </a:p>
        </p:txBody>
      </p:sp>
      <p:cxnSp>
        <p:nvCxnSpPr>
          <p:cNvPr id="31" name="Straight Arrow Connector 30">
            <a:extLst>
              <a:ext uri="{FF2B5EF4-FFF2-40B4-BE49-F238E27FC236}">
                <a16:creationId xmlns:a16="http://schemas.microsoft.com/office/drawing/2014/main" id="{40F739B4-22BA-E670-7593-0FF694DD6771}"/>
              </a:ext>
            </a:extLst>
          </p:cNvPr>
          <p:cNvCxnSpPr>
            <a:cxnSpLocks/>
            <a:stCxn id="27" idx="3"/>
            <a:endCxn id="28" idx="1"/>
          </p:cNvCxnSpPr>
          <p:nvPr/>
        </p:nvCxnSpPr>
        <p:spPr>
          <a:xfrm flipV="1">
            <a:off x="7425545" y="3026781"/>
            <a:ext cx="629920" cy="18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1C5288A4-DCEC-8D08-934F-5248A9E34B8E}"/>
              </a:ext>
            </a:extLst>
          </p:cNvPr>
          <p:cNvCxnSpPr>
            <a:cxnSpLocks/>
            <a:stCxn id="28" idx="3"/>
            <a:endCxn id="29" idx="1"/>
          </p:cNvCxnSpPr>
          <p:nvPr/>
        </p:nvCxnSpPr>
        <p:spPr>
          <a:xfrm>
            <a:off x="9620105" y="3026781"/>
            <a:ext cx="894080" cy="1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989BFB4-0908-1326-BC78-B6A696F5C516}"/>
              </a:ext>
            </a:extLst>
          </p:cNvPr>
          <p:cNvCxnSpPr>
            <a:stCxn id="29" idx="0"/>
            <a:endCxn id="30" idx="2"/>
          </p:cNvCxnSpPr>
          <p:nvPr/>
        </p:nvCxnSpPr>
        <p:spPr>
          <a:xfrm flipV="1">
            <a:off x="11189825" y="1779249"/>
            <a:ext cx="0" cy="788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D87DB977-7AAF-3559-8D94-483439F48BF5}"/>
              </a:ext>
            </a:extLst>
          </p:cNvPr>
          <p:cNvCxnSpPr>
            <a:stCxn id="29" idx="2"/>
            <a:endCxn id="27" idx="2"/>
          </p:cNvCxnSpPr>
          <p:nvPr/>
        </p:nvCxnSpPr>
        <p:spPr>
          <a:xfrm rot="5400000" flipH="1">
            <a:off x="8913129" y="1213111"/>
            <a:ext cx="199832" cy="4353560"/>
          </a:xfrm>
          <a:prstGeom prst="bentConnector3">
            <a:avLst>
              <a:gd name="adj1" fmla="val -668582"/>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95786102-C76B-2288-1D35-F75B5129E73B}"/>
              </a:ext>
            </a:extLst>
          </p:cNvPr>
          <p:cNvSpPr/>
          <p:nvPr/>
        </p:nvSpPr>
        <p:spPr>
          <a:xfrm>
            <a:off x="8136745" y="4497647"/>
            <a:ext cx="1564640" cy="522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Analyze Errors</a:t>
            </a:r>
          </a:p>
        </p:txBody>
      </p:sp>
      <p:cxnSp>
        <p:nvCxnSpPr>
          <p:cNvPr id="37" name="Straight Connector 36">
            <a:extLst>
              <a:ext uri="{FF2B5EF4-FFF2-40B4-BE49-F238E27FC236}">
                <a16:creationId xmlns:a16="http://schemas.microsoft.com/office/drawing/2014/main" id="{E43DA12C-E1F2-800D-AFF4-3974EB30D03B}"/>
              </a:ext>
            </a:extLst>
          </p:cNvPr>
          <p:cNvCxnSpPr>
            <a:cxnSpLocks/>
          </p:cNvCxnSpPr>
          <p:nvPr/>
        </p:nvCxnSpPr>
        <p:spPr>
          <a:xfrm>
            <a:off x="6096000" y="92597"/>
            <a:ext cx="0" cy="676540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Flowchart: Data 43">
            <a:extLst>
              <a:ext uri="{FF2B5EF4-FFF2-40B4-BE49-F238E27FC236}">
                <a16:creationId xmlns:a16="http://schemas.microsoft.com/office/drawing/2014/main" id="{CAE3B48D-0627-E3DD-9B0B-589C5A1886E0}"/>
              </a:ext>
            </a:extLst>
          </p:cNvPr>
          <p:cNvSpPr/>
          <p:nvPr/>
        </p:nvSpPr>
        <p:spPr>
          <a:xfrm>
            <a:off x="8055465" y="1643606"/>
            <a:ext cx="1564624" cy="613458"/>
          </a:xfrm>
          <a:prstGeom prst="flowChartInputOutp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Feed Data</a:t>
            </a:r>
          </a:p>
        </p:txBody>
      </p:sp>
      <p:cxnSp>
        <p:nvCxnSpPr>
          <p:cNvPr id="46" name="Straight Arrow Connector 45">
            <a:extLst>
              <a:ext uri="{FF2B5EF4-FFF2-40B4-BE49-F238E27FC236}">
                <a16:creationId xmlns:a16="http://schemas.microsoft.com/office/drawing/2014/main" id="{666FD3F6-4AF2-C723-847B-EF0853D85B27}"/>
              </a:ext>
            </a:extLst>
          </p:cNvPr>
          <p:cNvCxnSpPr>
            <a:stCxn id="44" idx="4"/>
            <a:endCxn id="28" idx="0"/>
          </p:cNvCxnSpPr>
          <p:nvPr/>
        </p:nvCxnSpPr>
        <p:spPr>
          <a:xfrm>
            <a:off x="8837777" y="2257064"/>
            <a:ext cx="8" cy="405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4DC84397-561E-83B1-0DF9-1F9202957BFA}"/>
              </a:ext>
            </a:extLst>
          </p:cNvPr>
          <p:cNvSpPr txBox="1"/>
          <p:nvPr/>
        </p:nvSpPr>
        <p:spPr>
          <a:xfrm>
            <a:off x="164490" y="5302977"/>
            <a:ext cx="6094070" cy="1569660"/>
          </a:xfrm>
          <a:prstGeom prst="rect">
            <a:avLst/>
          </a:prstGeom>
          <a:noFill/>
        </p:spPr>
        <p:txBody>
          <a:bodyPr wrap="square">
            <a:spAutoFit/>
          </a:bodyPr>
          <a:lstStyle/>
          <a:p>
            <a:pPr>
              <a:buNone/>
            </a:pPr>
            <a:r>
              <a:rPr lang="en-US" sz="1200" b="1" dirty="0"/>
              <a:t>Traditional Programming </a:t>
            </a:r>
            <a:r>
              <a:rPr lang="en-US" sz="1200" dirty="0"/>
              <a:t>Teacher gives exact instructions</a:t>
            </a:r>
            <a:endParaRPr lang="en-US" sz="1200" b="1" dirty="0"/>
          </a:p>
          <a:p>
            <a:pPr>
              <a:buNone/>
            </a:pPr>
            <a:r>
              <a:rPr lang="en-US" sz="1200" b="1" dirty="0"/>
              <a:t>Example </a:t>
            </a:r>
            <a:r>
              <a:rPr lang="en-US" sz="1200" dirty="0"/>
              <a:t>Spam Detection using rules:</a:t>
            </a:r>
          </a:p>
          <a:p>
            <a:pPr>
              <a:buFont typeface="Arial" panose="020B0604020202020204" pitchFamily="34" charset="0"/>
              <a:buChar char="•"/>
            </a:pPr>
            <a:r>
              <a:rPr lang="en-US" sz="1200" dirty="0"/>
              <a:t>If email contains “WIN MONEY” → spam </a:t>
            </a:r>
          </a:p>
          <a:p>
            <a:pPr>
              <a:buFont typeface="Arial" panose="020B0604020202020204" pitchFamily="34" charset="0"/>
              <a:buChar char="•"/>
            </a:pPr>
            <a:r>
              <a:rPr lang="en-US" sz="1200" dirty="0"/>
              <a:t>If email has too many links → spam </a:t>
            </a:r>
          </a:p>
          <a:p>
            <a:pPr>
              <a:buNone/>
            </a:pPr>
            <a:r>
              <a:rPr lang="en-US" sz="1200" b="1" dirty="0"/>
              <a:t>Problems</a:t>
            </a:r>
          </a:p>
          <a:p>
            <a:pPr>
              <a:buFont typeface="Arial" panose="020B0604020202020204" pitchFamily="34" charset="0"/>
              <a:buChar char="•"/>
            </a:pPr>
            <a:r>
              <a:rPr lang="en-US" sz="1200" dirty="0"/>
              <a:t>Rules become very complex </a:t>
            </a:r>
          </a:p>
          <a:p>
            <a:pPr>
              <a:buFont typeface="Arial" panose="020B0604020202020204" pitchFamily="34" charset="0"/>
              <a:buChar char="•"/>
            </a:pPr>
            <a:r>
              <a:rPr lang="en-US" sz="1200" dirty="0"/>
              <a:t>Hard to maintain </a:t>
            </a:r>
          </a:p>
          <a:p>
            <a:pPr>
              <a:buFont typeface="Arial" panose="020B0604020202020204" pitchFamily="34" charset="0"/>
              <a:buChar char="•"/>
            </a:pPr>
            <a:r>
              <a:rPr lang="en-US" sz="1200" dirty="0"/>
              <a:t>Cannot handle changing patterns well</a:t>
            </a:r>
          </a:p>
        </p:txBody>
      </p:sp>
      <p:sp>
        <p:nvSpPr>
          <p:cNvPr id="50" name="TextBox 49">
            <a:extLst>
              <a:ext uri="{FF2B5EF4-FFF2-40B4-BE49-F238E27FC236}">
                <a16:creationId xmlns:a16="http://schemas.microsoft.com/office/drawing/2014/main" id="{65FC07DD-CE87-EFF9-3CAF-52AEDF13387C}"/>
              </a:ext>
            </a:extLst>
          </p:cNvPr>
          <p:cNvSpPr txBox="1"/>
          <p:nvPr/>
        </p:nvSpPr>
        <p:spPr>
          <a:xfrm>
            <a:off x="6405881" y="5427964"/>
            <a:ext cx="6094070" cy="1015663"/>
          </a:xfrm>
          <a:prstGeom prst="rect">
            <a:avLst/>
          </a:prstGeom>
          <a:noFill/>
        </p:spPr>
        <p:txBody>
          <a:bodyPr wrap="square">
            <a:spAutoFit/>
          </a:bodyPr>
          <a:lstStyle/>
          <a:p>
            <a:r>
              <a:rPr lang="en-US" sz="1200" dirty="0"/>
              <a:t>Student learns from examples and experience.</a:t>
            </a:r>
          </a:p>
          <a:p>
            <a:pPr>
              <a:buNone/>
            </a:pPr>
            <a:endParaRPr lang="en-US" sz="1200" b="1" dirty="0"/>
          </a:p>
          <a:p>
            <a:pPr>
              <a:buNone/>
            </a:pPr>
            <a:r>
              <a:rPr lang="en-US" sz="1200" b="1" dirty="0"/>
              <a:t>Example </a:t>
            </a:r>
            <a:r>
              <a:rPr lang="en-US" sz="1200" dirty="0"/>
              <a:t>Instead of writing spam rules manually:</a:t>
            </a:r>
          </a:p>
          <a:p>
            <a:pPr>
              <a:buFont typeface="Arial" panose="020B0604020202020204" pitchFamily="34" charset="0"/>
              <a:buChar char="•"/>
            </a:pPr>
            <a:r>
              <a:rPr lang="en-US" sz="1200" dirty="0"/>
              <a:t>Give thousands of spam and non-spam emails </a:t>
            </a:r>
          </a:p>
          <a:p>
            <a:pPr>
              <a:buFont typeface="Arial" panose="020B0604020202020204" pitchFamily="34" charset="0"/>
              <a:buChar char="•"/>
            </a:pPr>
            <a:r>
              <a:rPr lang="en-US" sz="1200" dirty="0"/>
              <a:t>Model learns patterns automatically </a:t>
            </a:r>
          </a:p>
        </p:txBody>
      </p:sp>
    </p:spTree>
    <p:extLst>
      <p:ext uri="{BB962C8B-B14F-4D97-AF65-F5344CB8AC3E}">
        <p14:creationId xmlns:p14="http://schemas.microsoft.com/office/powerpoint/2010/main" val="4271320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BCFB-EA87-3837-C2D4-ACAC93BFB1C8}"/>
              </a:ext>
            </a:extLst>
          </p:cNvPr>
          <p:cNvSpPr>
            <a:spLocks noGrp="1"/>
          </p:cNvSpPr>
          <p:nvPr>
            <p:ph type="title"/>
          </p:nvPr>
        </p:nvSpPr>
        <p:spPr/>
        <p:txBody>
          <a:bodyPr/>
          <a:lstStyle/>
          <a:p>
            <a:r>
              <a:rPr lang="en-US" b="1" dirty="0"/>
              <a:t>Supervised Learning</a:t>
            </a:r>
            <a:endParaRPr lang="en-US" dirty="0"/>
          </a:p>
        </p:txBody>
      </p:sp>
      <p:sp>
        <p:nvSpPr>
          <p:cNvPr id="3" name="Content Placeholder 2">
            <a:extLst>
              <a:ext uri="{FF2B5EF4-FFF2-40B4-BE49-F238E27FC236}">
                <a16:creationId xmlns:a16="http://schemas.microsoft.com/office/drawing/2014/main" id="{2D50EF2F-0340-1FB6-4647-B88409AAA087}"/>
              </a:ext>
            </a:extLst>
          </p:cNvPr>
          <p:cNvSpPr>
            <a:spLocks noGrp="1"/>
          </p:cNvSpPr>
          <p:nvPr>
            <p:ph idx="1"/>
          </p:nvPr>
        </p:nvSpPr>
        <p:spPr/>
        <p:txBody>
          <a:bodyPr>
            <a:normAutofit fontScale="55000" lnSpcReduction="20000"/>
          </a:bodyPr>
          <a:lstStyle/>
          <a:p>
            <a:pPr marL="0" indent="0">
              <a:buNone/>
            </a:pPr>
            <a:r>
              <a:rPr lang="en-US" b="1" dirty="0"/>
              <a:t>1. Supervised Learning </a:t>
            </a:r>
            <a:r>
              <a:rPr lang="en-US" dirty="0"/>
              <a:t>The model learns from </a:t>
            </a:r>
            <a:r>
              <a:rPr lang="en-US" b="1" dirty="0"/>
              <a:t>labeled data</a:t>
            </a:r>
            <a:r>
              <a:rPr lang="en-US" dirty="0"/>
              <a:t> (input + correct output).</a:t>
            </a:r>
          </a:p>
          <a:p>
            <a:pPr marL="0" indent="0">
              <a:buNone/>
            </a:pPr>
            <a:r>
              <a:rPr lang="en-US" dirty="0"/>
              <a:t>Input → Correct Answer → Model learns pattern</a:t>
            </a:r>
          </a:p>
          <a:p>
            <a:pPr marL="0" indent="0">
              <a:buNone/>
            </a:pPr>
            <a:endParaRPr lang="en-US" b="1" dirty="0"/>
          </a:p>
          <a:p>
            <a:pPr marL="0" indent="0">
              <a:buNone/>
            </a:pPr>
            <a:r>
              <a:rPr lang="en-US" b="1" dirty="0"/>
              <a:t>Example</a:t>
            </a:r>
          </a:p>
          <a:p>
            <a:pPr marL="0" indent="0">
              <a:buNone/>
            </a:pPr>
            <a:r>
              <a:rPr lang="en-US" dirty="0"/>
              <a:t>Email spam detection (spam / not spam) </a:t>
            </a:r>
          </a:p>
          <a:p>
            <a:r>
              <a:rPr lang="en-US" dirty="0"/>
              <a:t>House price prediction </a:t>
            </a:r>
          </a:p>
          <a:p>
            <a:r>
              <a:rPr lang="en-US" dirty="0"/>
              <a:t>Disease diagnosis </a:t>
            </a:r>
          </a:p>
          <a:p>
            <a:r>
              <a:rPr lang="en-US" b="1" dirty="0"/>
              <a:t>Goal</a:t>
            </a:r>
          </a:p>
          <a:p>
            <a:r>
              <a:rPr lang="en-US" dirty="0"/>
              <a:t>Predict output for new unseen data.</a:t>
            </a:r>
          </a:p>
          <a:p>
            <a:r>
              <a:rPr lang="en-US" b="1" dirty="0"/>
              <a:t>Common Algorithms</a:t>
            </a:r>
          </a:p>
          <a:p>
            <a:r>
              <a:rPr lang="en-US" dirty="0"/>
              <a:t>Linear Regression </a:t>
            </a:r>
          </a:p>
          <a:p>
            <a:r>
              <a:rPr lang="en-US" dirty="0"/>
              <a:t>Logistic Regression </a:t>
            </a:r>
          </a:p>
          <a:p>
            <a:r>
              <a:rPr lang="en-US" dirty="0"/>
              <a:t>Decision Trees </a:t>
            </a:r>
          </a:p>
          <a:p>
            <a:r>
              <a:rPr lang="en-US" dirty="0"/>
              <a:t>Support Vector Machines</a:t>
            </a:r>
          </a:p>
          <a:p>
            <a:endParaRPr lang="en-US" dirty="0"/>
          </a:p>
        </p:txBody>
      </p:sp>
    </p:spTree>
    <p:extLst>
      <p:ext uri="{BB962C8B-B14F-4D97-AF65-F5344CB8AC3E}">
        <p14:creationId xmlns:p14="http://schemas.microsoft.com/office/powerpoint/2010/main" val="400249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D2932-F45E-4526-9FBA-9D911EC615F7}"/>
              </a:ext>
            </a:extLst>
          </p:cNvPr>
          <p:cNvSpPr>
            <a:spLocks noGrp="1"/>
          </p:cNvSpPr>
          <p:nvPr>
            <p:ph type="title"/>
          </p:nvPr>
        </p:nvSpPr>
        <p:spPr/>
        <p:txBody>
          <a:bodyPr/>
          <a:lstStyle/>
          <a:p>
            <a:r>
              <a:rPr lang="en-US" b="1" dirty="0"/>
              <a:t>Unsupervised Learning</a:t>
            </a:r>
            <a:endParaRPr lang="en-US" dirty="0"/>
          </a:p>
        </p:txBody>
      </p:sp>
      <p:sp>
        <p:nvSpPr>
          <p:cNvPr id="3" name="Content Placeholder 2">
            <a:extLst>
              <a:ext uri="{FF2B5EF4-FFF2-40B4-BE49-F238E27FC236}">
                <a16:creationId xmlns:a16="http://schemas.microsoft.com/office/drawing/2014/main" id="{5C1D9540-4DF4-0ABA-A4BB-095ED0CF582A}"/>
              </a:ext>
            </a:extLst>
          </p:cNvPr>
          <p:cNvSpPr>
            <a:spLocks noGrp="1"/>
          </p:cNvSpPr>
          <p:nvPr>
            <p:ph idx="1"/>
          </p:nvPr>
        </p:nvSpPr>
        <p:spPr/>
        <p:txBody>
          <a:bodyPr>
            <a:normAutofit fontScale="55000" lnSpcReduction="20000"/>
          </a:bodyPr>
          <a:lstStyle/>
          <a:p>
            <a:pPr marL="0" indent="0">
              <a:buNone/>
            </a:pPr>
            <a:r>
              <a:rPr lang="en-US" b="1" dirty="0"/>
              <a:t>Idea</a:t>
            </a:r>
          </a:p>
          <a:p>
            <a:pPr marL="0" indent="0">
              <a:buNone/>
            </a:pPr>
            <a:r>
              <a:rPr lang="en-US" dirty="0"/>
              <a:t>The model learns from </a:t>
            </a:r>
            <a:r>
              <a:rPr lang="en-US" b="1" dirty="0"/>
              <a:t>unlabeled data</a:t>
            </a:r>
            <a:r>
              <a:rPr lang="en-US" dirty="0"/>
              <a:t> (no correct answers given).</a:t>
            </a:r>
          </a:p>
          <a:p>
            <a:pPr marL="0" indent="0">
              <a:buNone/>
            </a:pPr>
            <a:r>
              <a:rPr lang="en-US" b="1" dirty="0"/>
              <a:t>Flow</a:t>
            </a:r>
          </a:p>
          <a:p>
            <a:pPr marL="0" indent="0">
              <a:buNone/>
            </a:pPr>
            <a:r>
              <a:rPr lang="en-US" dirty="0"/>
              <a:t>Input data → Model finds patterns/groups</a:t>
            </a:r>
          </a:p>
          <a:p>
            <a:pPr marL="0" indent="0">
              <a:buNone/>
            </a:pPr>
            <a:r>
              <a:rPr lang="en-US" b="1" dirty="0"/>
              <a:t>Example</a:t>
            </a:r>
          </a:p>
          <a:p>
            <a:pPr marL="0" indent="0">
              <a:buNone/>
            </a:pPr>
            <a:r>
              <a:rPr lang="en-US" dirty="0"/>
              <a:t>Customer segmentation </a:t>
            </a:r>
          </a:p>
          <a:p>
            <a:pPr marL="0" indent="0">
              <a:buNone/>
            </a:pPr>
            <a:r>
              <a:rPr lang="en-US" dirty="0"/>
              <a:t>Market basket analysis </a:t>
            </a:r>
          </a:p>
          <a:p>
            <a:pPr marL="0" indent="0">
              <a:buNone/>
            </a:pPr>
            <a:r>
              <a:rPr lang="en-US" dirty="0"/>
              <a:t>Grouping similar news articles </a:t>
            </a:r>
          </a:p>
          <a:p>
            <a:pPr marL="0" indent="0">
              <a:buNone/>
            </a:pPr>
            <a:r>
              <a:rPr lang="en-US" b="1" dirty="0"/>
              <a:t>Goal</a:t>
            </a:r>
          </a:p>
          <a:p>
            <a:pPr marL="0" indent="0">
              <a:buNone/>
            </a:pPr>
            <a:r>
              <a:rPr lang="en-US" dirty="0"/>
              <a:t>Discover hidden patterns in data.</a:t>
            </a:r>
          </a:p>
          <a:p>
            <a:pPr marL="0" indent="0">
              <a:buNone/>
            </a:pPr>
            <a:r>
              <a:rPr lang="en-US" b="1" dirty="0"/>
              <a:t>Common Algorithms</a:t>
            </a:r>
          </a:p>
          <a:p>
            <a:pPr marL="0" indent="0">
              <a:buNone/>
            </a:pPr>
            <a:r>
              <a:rPr lang="en-US" dirty="0"/>
              <a:t>K-Means Clustering </a:t>
            </a:r>
          </a:p>
          <a:p>
            <a:pPr marL="0" indent="0">
              <a:buNone/>
            </a:pPr>
            <a:r>
              <a:rPr lang="en-US" dirty="0"/>
              <a:t>Hierarchical Clustering </a:t>
            </a:r>
          </a:p>
          <a:p>
            <a:pPr marL="0" indent="0">
              <a:buNone/>
            </a:pPr>
            <a:r>
              <a:rPr lang="en-US" dirty="0"/>
              <a:t>PCA (Dimensionality Reduction)</a:t>
            </a:r>
          </a:p>
          <a:p>
            <a:endParaRPr lang="en-US" dirty="0"/>
          </a:p>
        </p:txBody>
      </p:sp>
    </p:spTree>
    <p:extLst>
      <p:ext uri="{BB962C8B-B14F-4D97-AF65-F5344CB8AC3E}">
        <p14:creationId xmlns:p14="http://schemas.microsoft.com/office/powerpoint/2010/main" val="26272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87FC6-1ABC-7C1C-185C-6C4320F3014B}"/>
              </a:ext>
            </a:extLst>
          </p:cNvPr>
          <p:cNvSpPr>
            <a:spLocks noGrp="1"/>
          </p:cNvSpPr>
          <p:nvPr>
            <p:ph type="title"/>
          </p:nvPr>
        </p:nvSpPr>
        <p:spPr/>
        <p:txBody>
          <a:bodyPr/>
          <a:lstStyle/>
          <a:p>
            <a:r>
              <a:rPr lang="en-US" dirty="0"/>
              <a:t>Reinforcement Learning</a:t>
            </a:r>
          </a:p>
        </p:txBody>
      </p:sp>
      <p:sp>
        <p:nvSpPr>
          <p:cNvPr id="3" name="Content Placeholder 2">
            <a:extLst>
              <a:ext uri="{FF2B5EF4-FFF2-40B4-BE49-F238E27FC236}">
                <a16:creationId xmlns:a16="http://schemas.microsoft.com/office/drawing/2014/main" id="{F879F902-0B02-08DB-D067-E214DEBE7116}"/>
              </a:ext>
            </a:extLst>
          </p:cNvPr>
          <p:cNvSpPr>
            <a:spLocks noGrp="1"/>
          </p:cNvSpPr>
          <p:nvPr>
            <p:ph idx="1"/>
          </p:nvPr>
        </p:nvSpPr>
        <p:spPr/>
        <p:txBody>
          <a:bodyPr>
            <a:normAutofit fontScale="62500" lnSpcReduction="20000"/>
          </a:bodyPr>
          <a:lstStyle/>
          <a:p>
            <a:pPr marL="0" indent="0">
              <a:buNone/>
            </a:pPr>
            <a:r>
              <a:rPr lang="en-US" b="1" dirty="0"/>
              <a:t>Idea</a:t>
            </a:r>
          </a:p>
          <a:p>
            <a:pPr marL="0" indent="0">
              <a:buNone/>
            </a:pPr>
            <a:r>
              <a:rPr lang="en-US" dirty="0"/>
              <a:t>An agent learns by </a:t>
            </a:r>
            <a:r>
              <a:rPr lang="en-US" b="1" dirty="0"/>
              <a:t>interacting with the environment</a:t>
            </a:r>
            <a:r>
              <a:rPr lang="en-US" dirty="0"/>
              <a:t> and receiving rewards or penalties.</a:t>
            </a:r>
          </a:p>
          <a:p>
            <a:pPr marL="0" indent="0">
              <a:buNone/>
            </a:pPr>
            <a:r>
              <a:rPr lang="en-US" b="1" dirty="0"/>
              <a:t>Flow</a:t>
            </a:r>
          </a:p>
          <a:p>
            <a:pPr marL="0" indent="0">
              <a:buNone/>
            </a:pPr>
            <a:r>
              <a:rPr lang="en-US" dirty="0"/>
              <a:t>Action → Reward/Penalty → Learning → Better Action</a:t>
            </a:r>
          </a:p>
          <a:p>
            <a:pPr marL="0" indent="0">
              <a:buNone/>
            </a:pPr>
            <a:r>
              <a:rPr lang="en-US" b="1" dirty="0"/>
              <a:t>Example</a:t>
            </a:r>
          </a:p>
          <a:p>
            <a:pPr marL="0" indent="0">
              <a:buNone/>
            </a:pPr>
            <a:r>
              <a:rPr lang="en-US" dirty="0"/>
              <a:t>Game playing (chess, Go) </a:t>
            </a:r>
          </a:p>
          <a:p>
            <a:pPr marL="0" indent="0">
              <a:buNone/>
            </a:pPr>
            <a:r>
              <a:rPr lang="en-US" dirty="0"/>
              <a:t>Robotics </a:t>
            </a:r>
          </a:p>
          <a:p>
            <a:pPr marL="0" indent="0">
              <a:buNone/>
            </a:pPr>
            <a:r>
              <a:rPr lang="en-US" dirty="0"/>
              <a:t>Self-driving cars </a:t>
            </a:r>
          </a:p>
          <a:p>
            <a:pPr marL="0" indent="0">
              <a:buNone/>
            </a:pPr>
            <a:r>
              <a:rPr lang="en-US" b="1" dirty="0"/>
              <a:t>Goal</a:t>
            </a:r>
          </a:p>
          <a:p>
            <a:pPr marL="0" indent="0">
              <a:buNone/>
            </a:pPr>
            <a:r>
              <a:rPr lang="en-US" dirty="0"/>
              <a:t>Learn best actions to maximize reward.</a:t>
            </a:r>
          </a:p>
          <a:p>
            <a:pPr marL="0" indent="0">
              <a:buNone/>
            </a:pPr>
            <a:r>
              <a:rPr lang="en-US" b="1" dirty="0"/>
              <a:t>Common Algorithms</a:t>
            </a:r>
          </a:p>
          <a:p>
            <a:pPr marL="0" indent="0">
              <a:buNone/>
            </a:pPr>
            <a:r>
              <a:rPr lang="en-US" dirty="0"/>
              <a:t>Q-Learning </a:t>
            </a:r>
          </a:p>
          <a:p>
            <a:pPr marL="0" indent="0">
              <a:buNone/>
            </a:pPr>
            <a:r>
              <a:rPr lang="en-US" dirty="0"/>
              <a:t>Deep Q Networks (DQN)</a:t>
            </a:r>
          </a:p>
          <a:p>
            <a:endParaRPr lang="en-US" dirty="0"/>
          </a:p>
        </p:txBody>
      </p:sp>
    </p:spTree>
    <p:extLst>
      <p:ext uri="{BB962C8B-B14F-4D97-AF65-F5344CB8AC3E}">
        <p14:creationId xmlns:p14="http://schemas.microsoft.com/office/powerpoint/2010/main" val="3051093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C969B-BB0D-8714-2D2F-D8A99CC7B3F5}"/>
              </a:ext>
            </a:extLst>
          </p:cNvPr>
          <p:cNvSpPr>
            <a:spLocks noGrp="1"/>
          </p:cNvSpPr>
          <p:nvPr>
            <p:ph idx="1"/>
          </p:nvPr>
        </p:nvSpPr>
        <p:spPr>
          <a:xfrm>
            <a:off x="838200" y="772160"/>
            <a:ext cx="10515600" cy="5404803"/>
          </a:xfrm>
        </p:spPr>
        <p:txBody>
          <a:bodyPr>
            <a:normAutofit/>
          </a:bodyPr>
          <a:lstStyle/>
          <a:p>
            <a:pPr marL="0" indent="0">
              <a:buNone/>
            </a:pPr>
            <a:r>
              <a:rPr lang="en-US" sz="6600" dirty="0"/>
              <a:t>In Machine Learning, </a:t>
            </a:r>
            <a:r>
              <a:rPr lang="en-US" sz="6600" b="1" dirty="0"/>
              <a:t>Batch Learning</a:t>
            </a:r>
            <a:r>
              <a:rPr lang="en-US" sz="6600" dirty="0"/>
              <a:t> and </a:t>
            </a:r>
            <a:r>
              <a:rPr lang="en-US" sz="6600" b="1" dirty="0"/>
              <a:t>Online Learning</a:t>
            </a:r>
            <a:r>
              <a:rPr lang="en-US" sz="6600" dirty="0"/>
              <a:t> are two different ways a model learns from data.</a:t>
            </a:r>
          </a:p>
        </p:txBody>
      </p:sp>
    </p:spTree>
    <p:extLst>
      <p:ext uri="{BB962C8B-B14F-4D97-AF65-F5344CB8AC3E}">
        <p14:creationId xmlns:p14="http://schemas.microsoft.com/office/powerpoint/2010/main" val="227020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A8AF5D-1C3C-D9C7-7B4E-D47263E6C6B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3E33C6B2-D5D1-2E23-2237-EAC01F8F130D}"/>
              </a:ext>
            </a:extLst>
          </p:cNvPr>
          <p:cNvGraphicFramePr>
            <a:graphicFrameLocks noGrp="1"/>
          </p:cNvGraphicFramePr>
          <p:nvPr>
            <p:extLst>
              <p:ext uri="{D42A27DB-BD31-4B8C-83A1-F6EECF244321}">
                <p14:modId xmlns:p14="http://schemas.microsoft.com/office/powerpoint/2010/main" val="429686404"/>
              </p:ext>
            </p:extLst>
          </p:nvPr>
        </p:nvGraphicFramePr>
        <p:xfrm>
          <a:off x="643467" y="416560"/>
          <a:ext cx="10905067" cy="6512124"/>
        </p:xfrm>
        <a:graphic>
          <a:graphicData uri="http://schemas.openxmlformats.org/drawingml/2006/table">
            <a:tbl>
              <a:tblPr firstRow="1" bandRow="1">
                <a:tableStyleId>{5C22544A-7EE6-4342-B048-85BDC9FD1C3A}</a:tableStyleId>
              </a:tblPr>
              <a:tblGrid>
                <a:gridCol w="2310544">
                  <a:extLst>
                    <a:ext uri="{9D8B030D-6E8A-4147-A177-3AD203B41FA5}">
                      <a16:colId xmlns:a16="http://schemas.microsoft.com/office/drawing/2014/main" val="1554973077"/>
                    </a:ext>
                  </a:extLst>
                </a:gridCol>
                <a:gridCol w="8594523">
                  <a:extLst>
                    <a:ext uri="{9D8B030D-6E8A-4147-A177-3AD203B41FA5}">
                      <a16:colId xmlns:a16="http://schemas.microsoft.com/office/drawing/2014/main" val="4142874712"/>
                    </a:ext>
                  </a:extLst>
                </a:gridCol>
              </a:tblGrid>
              <a:tr h="741680">
                <a:tc gridSpan="2">
                  <a:txBody>
                    <a:bodyPr/>
                    <a:lstStyle/>
                    <a:p>
                      <a:r>
                        <a:rPr kumimoji="0" lang="en-US" sz="3800" b="0" i="0" u="none" strike="noStrike" kern="1200" cap="none" spc="0" normalizeH="0" baseline="0" noProof="0" dirty="0">
                          <a:ln>
                            <a:noFill/>
                          </a:ln>
                          <a:solidFill>
                            <a:schemeClr val="bg1"/>
                          </a:solidFill>
                          <a:effectLst/>
                          <a:uLnTx/>
                          <a:uFillTx/>
                          <a:latin typeface="+mn-lt"/>
                          <a:ea typeface="+mj-ea"/>
                          <a:cs typeface="+mj-cs"/>
                        </a:rPr>
                        <a:t>Batch Learning (Offline learning)</a:t>
                      </a:r>
                      <a:endParaRPr lang="en-US" sz="1400" dirty="0">
                        <a:solidFill>
                          <a:schemeClr val="bg1"/>
                        </a:solidFill>
                        <a:latin typeface="+mn-lt"/>
                      </a:endParaRPr>
                    </a:p>
                  </a:txBody>
                  <a:tcPr marL="80843" marR="80843" marT="40422" marB="40422"/>
                </a:tc>
                <a:tc hMerge="1">
                  <a:txBody>
                    <a:bodyPr/>
                    <a:lstStyle/>
                    <a:p>
                      <a:endParaRPr dirty="0"/>
                    </a:p>
                  </a:txBody>
                  <a:tcPr marL="94026" marR="94026" marT="47013" marB="47013"/>
                </a:tc>
                <a:extLst>
                  <a:ext uri="{0D108BD9-81ED-4DB2-BD59-A6C34878D82A}">
                    <a16:rowId xmlns:a16="http://schemas.microsoft.com/office/drawing/2014/main" val="3576029670"/>
                  </a:ext>
                </a:extLst>
              </a:tr>
              <a:tr h="741250">
                <a:tc>
                  <a:txBody>
                    <a:bodyPr/>
                    <a:lstStyle/>
                    <a:p>
                      <a:r>
                        <a:rPr lang="en-US" sz="1400">
                          <a:latin typeface="+mn-lt"/>
                        </a:rPr>
                        <a:t>Definition</a:t>
                      </a:r>
                    </a:p>
                  </a:txBody>
                  <a:tcPr marL="80843" marR="80843" marT="40422" marB="40422"/>
                </a:tc>
                <a:tc>
                  <a:txBody>
                    <a:bodyPr/>
                    <a:lstStyle/>
                    <a:p>
                      <a:pPr marL="285750" indent="-285750">
                        <a:buFont typeface="Wingdings" panose="05000000000000000000" pitchFamily="2" charset="2"/>
                        <a:buChar char="ü"/>
                      </a:pPr>
                      <a:r>
                        <a:rPr lang="en-US" sz="1400" dirty="0">
                          <a:latin typeface="+mn-lt"/>
                        </a:rPr>
                        <a:t>System is incapable of learning incrementally and it must be trained using all available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Trained first and then launched into production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Runs without learning any more)</a:t>
                      </a:r>
                    </a:p>
                  </a:txBody>
                  <a:tcPr marL="80843" marR="80843" marT="40422" marB="40422"/>
                </a:tc>
                <a:extLst>
                  <a:ext uri="{0D108BD9-81ED-4DB2-BD59-A6C34878D82A}">
                    <a16:rowId xmlns:a16="http://schemas.microsoft.com/office/drawing/2014/main" val="2473932639"/>
                  </a:ext>
                </a:extLst>
              </a:tr>
              <a:tr h="950903">
                <a:tc>
                  <a:txBody>
                    <a:bodyPr/>
                    <a:lstStyle/>
                    <a:p>
                      <a:r>
                        <a:rPr lang="en-US" sz="1400" dirty="0">
                          <a:latin typeface="+mn-lt"/>
                        </a:rPr>
                        <a:t>Important Point</a:t>
                      </a:r>
                    </a:p>
                  </a:txBody>
                  <a:tcPr marL="80843" marR="80843" marT="40422" marB="40422"/>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If you need to know about the new data then retrain from scratch on the full dataset and replace the old model with new one. Process of training, evaluation and launching is easy.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How often you retrain depends on the use case- for e.g. cats and dogs model decays slowly as compared to making predictions on financial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sz="1400" dirty="0">
                        <a:latin typeface="+mn-lt"/>
                      </a:endParaRPr>
                    </a:p>
                  </a:txBody>
                  <a:tcPr marL="80843" marR="80843" marT="40422" marB="40422"/>
                </a:tc>
                <a:extLst>
                  <a:ext uri="{0D108BD9-81ED-4DB2-BD59-A6C34878D82A}">
                    <a16:rowId xmlns:a16="http://schemas.microsoft.com/office/drawing/2014/main" val="1788590985"/>
                  </a:ext>
                </a:extLst>
              </a:tr>
              <a:tr h="321944">
                <a:tc>
                  <a:txBody>
                    <a:bodyPr/>
                    <a:lstStyle/>
                    <a:p>
                      <a:r>
                        <a:rPr lang="en-US" sz="1400" dirty="0">
                          <a:latin typeface="+mn-lt"/>
                        </a:rPr>
                        <a:t>Advantage</a:t>
                      </a:r>
                    </a:p>
                  </a:txBody>
                  <a:tcPr marL="80843" marR="80843" marT="40422" marB="40422"/>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Process of training, evaluation and launching is easy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Solution is simple and often works fine but training using the full set of data can take many hours so you would typically train 24 hours or weekly </a:t>
                      </a:r>
                    </a:p>
                  </a:txBody>
                  <a:tcPr marL="80843" marR="80843" marT="40422" marB="40422"/>
                </a:tc>
                <a:extLst>
                  <a:ext uri="{0D108BD9-81ED-4DB2-BD59-A6C34878D82A}">
                    <a16:rowId xmlns:a16="http://schemas.microsoft.com/office/drawing/2014/main" val="337490829"/>
                  </a:ext>
                </a:extLst>
              </a:tr>
              <a:tr h="1159542">
                <a:tc>
                  <a:txBody>
                    <a:bodyPr/>
                    <a:lstStyle/>
                    <a:p>
                      <a:r>
                        <a:rPr lang="en-US" sz="1400" dirty="0">
                          <a:latin typeface="+mn-lt"/>
                        </a:rPr>
                        <a:t>Challenges</a:t>
                      </a:r>
                    </a:p>
                  </a:txBody>
                  <a:tcPr marL="80843" marR="80843" marT="40422" marB="40422"/>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Trained Offline - take lot of time, resources and money</a:t>
                      </a:r>
                    </a:p>
                    <a:p>
                      <a:pPr marL="285750" indent="-285750">
                        <a:buFont typeface="Wingdings" panose="05000000000000000000" pitchFamily="2" charset="2"/>
                        <a:buChar char="ü"/>
                      </a:pPr>
                      <a:r>
                        <a:rPr lang="en-US" sz="1400" dirty="0">
                          <a:latin typeface="+mn-lt"/>
                        </a:rPr>
                        <a:t>Model performance tends to decay slowly overtime  since the world evolves while the model remains unchanged. Solution to it is to retrain the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latin typeface="+mn-lt"/>
                        </a:rPr>
                        <a:t>Training on the full set of data requires lot of resources and money. If data is huge then even it is impossible to use Batch Learning</a:t>
                      </a:r>
                    </a:p>
                  </a:txBody>
                  <a:tcPr marL="80843" marR="80843" marT="40422" marB="40422"/>
                </a:tc>
                <a:extLst>
                  <a:ext uri="{0D108BD9-81ED-4DB2-BD59-A6C34878D82A}">
                    <a16:rowId xmlns:a16="http://schemas.microsoft.com/office/drawing/2014/main" val="3277642563"/>
                  </a:ext>
                </a:extLst>
              </a:tr>
              <a:tr h="1160556">
                <a:tc>
                  <a:txBody>
                    <a:bodyPr/>
                    <a:lstStyle/>
                    <a:p>
                      <a:r>
                        <a:rPr lang="en-US" sz="1400" dirty="0">
                          <a:latin typeface="+mn-lt"/>
                        </a:rPr>
                        <a:t>Which System Uses</a:t>
                      </a:r>
                    </a:p>
                  </a:txBody>
                  <a:tcPr marL="80843" marR="80843" marT="40422" marB="40422"/>
                </a:tc>
                <a:tc>
                  <a:txBody>
                    <a:bodyPr/>
                    <a:lstStyle/>
                    <a:p>
                      <a:pPr marL="285750" indent="-285750">
                        <a:buFont typeface="Wingdings" panose="05000000000000000000" pitchFamily="2" charset="2"/>
                        <a:buChar char="ü"/>
                      </a:pPr>
                      <a:r>
                        <a:rPr lang="en-US" sz="1400" b="1" dirty="0"/>
                        <a:t>Traditional Spam Filters</a:t>
                      </a:r>
                      <a:r>
                        <a:rPr lang="en-US" sz="1400" dirty="0"/>
                        <a:t> Train once on a large email dataset </a:t>
                      </a:r>
                    </a:p>
                    <a:p>
                      <a:pPr marL="285750" indent="-285750">
                        <a:buFont typeface="Wingdings" panose="05000000000000000000" pitchFamily="2" charset="2"/>
                        <a:buChar char="ü"/>
                      </a:pPr>
                      <a:r>
                        <a:rPr lang="en-US" sz="1400" b="1" dirty="0"/>
                        <a:t>Image Classification Models</a:t>
                      </a:r>
                      <a:r>
                        <a:rPr lang="en-US" sz="1400" dirty="0"/>
                        <a:t> Example: training a cat vs dog classifier on a fixed dataset. The model is retrained only when enough new images are collected </a:t>
                      </a:r>
                    </a:p>
                    <a:p>
                      <a:pPr marL="285750" indent="-285750">
                        <a:buFont typeface="Wingdings" panose="05000000000000000000" pitchFamily="2" charset="2"/>
                        <a:buChar char="ü"/>
                      </a:pPr>
                      <a:r>
                        <a:rPr lang="en-US" sz="1400" b="1" dirty="0"/>
                        <a:t>Recommendation Systems (older style)</a:t>
                      </a:r>
                      <a:r>
                        <a:rPr lang="en-US" sz="1400" dirty="0"/>
                        <a:t> Some movie or product recommendation engines train nightly or weekly in batches </a:t>
                      </a:r>
                    </a:p>
                    <a:p>
                      <a:pPr marL="285750" indent="-285750">
                        <a:buFont typeface="Wingdings" panose="05000000000000000000" pitchFamily="2" charset="2"/>
                        <a:buChar char="ü"/>
                      </a:pPr>
                      <a:r>
                        <a:rPr lang="en-US" sz="1400" b="1" dirty="0"/>
                        <a:t>Bank Loan Approval Models</a:t>
                      </a:r>
                      <a:r>
                        <a:rPr lang="en-US" sz="1400" dirty="0"/>
                        <a:t> Banks often retrain models monthly or quarterly using historical customer data </a:t>
                      </a:r>
                    </a:p>
                    <a:p>
                      <a:pPr marL="285750" indent="-285750">
                        <a:buFont typeface="Wingdings" panose="05000000000000000000" pitchFamily="2" charset="2"/>
                        <a:buChar char="ü"/>
                      </a:pPr>
                      <a:r>
                        <a:rPr lang="en-US" sz="1400" b="1" dirty="0"/>
                        <a:t>Fraud Detection Models (offline versions)</a:t>
                      </a:r>
                      <a:r>
                        <a:rPr lang="en-US" sz="1400" dirty="0"/>
                        <a:t> Some systems analyze past transaction data in scheduled retraining cycles</a:t>
                      </a:r>
                    </a:p>
                  </a:txBody>
                  <a:tcPr marL="80843" marR="80843" marT="40422" marB="40422"/>
                </a:tc>
                <a:extLst>
                  <a:ext uri="{0D108BD9-81ED-4DB2-BD59-A6C34878D82A}">
                    <a16:rowId xmlns:a16="http://schemas.microsoft.com/office/drawing/2014/main" val="2038852819"/>
                  </a:ext>
                </a:extLst>
              </a:tr>
            </a:tbl>
          </a:graphicData>
        </a:graphic>
      </p:graphicFrame>
    </p:spTree>
    <p:extLst>
      <p:ext uri="{BB962C8B-B14F-4D97-AF65-F5344CB8AC3E}">
        <p14:creationId xmlns:p14="http://schemas.microsoft.com/office/powerpoint/2010/main" val="597999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0" name="Rectangle 29">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6ADF30C9-BFCB-32C1-DC17-529357F40FFA}"/>
              </a:ext>
            </a:extLst>
          </p:cNvPr>
          <p:cNvGraphicFramePr>
            <a:graphicFrameLocks noGrp="1"/>
          </p:cNvGraphicFramePr>
          <p:nvPr>
            <p:extLst>
              <p:ext uri="{D42A27DB-BD31-4B8C-83A1-F6EECF244321}">
                <p14:modId xmlns:p14="http://schemas.microsoft.com/office/powerpoint/2010/main" val="2726135960"/>
              </p:ext>
            </p:extLst>
          </p:nvPr>
        </p:nvGraphicFramePr>
        <p:xfrm>
          <a:off x="432884" y="365760"/>
          <a:ext cx="9009753" cy="6357151"/>
        </p:xfrm>
        <a:graphic>
          <a:graphicData uri="http://schemas.openxmlformats.org/drawingml/2006/table">
            <a:tbl>
              <a:tblPr firstRow="1" bandRow="1">
                <a:tableStyleId>{5C22544A-7EE6-4342-B048-85BDC9FD1C3A}</a:tableStyleId>
              </a:tblPr>
              <a:tblGrid>
                <a:gridCol w="1829637">
                  <a:extLst>
                    <a:ext uri="{9D8B030D-6E8A-4147-A177-3AD203B41FA5}">
                      <a16:colId xmlns:a16="http://schemas.microsoft.com/office/drawing/2014/main" val="1554973077"/>
                    </a:ext>
                  </a:extLst>
                </a:gridCol>
                <a:gridCol w="7180116">
                  <a:extLst>
                    <a:ext uri="{9D8B030D-6E8A-4147-A177-3AD203B41FA5}">
                      <a16:colId xmlns:a16="http://schemas.microsoft.com/office/drawing/2014/main" val="4142874712"/>
                    </a:ext>
                  </a:extLst>
                </a:gridCol>
              </a:tblGrid>
              <a:tr h="467360">
                <a:tc gridSpan="2">
                  <a:txBody>
                    <a:bodyPr/>
                    <a:lstStyle/>
                    <a:p>
                      <a:r>
                        <a:rPr lang="en-US" sz="1600" b="1" kern="1200" dirty="0">
                          <a:solidFill>
                            <a:schemeClr val="bg1"/>
                          </a:solidFill>
                          <a:latin typeface="+mn-lt"/>
                          <a:ea typeface="+mn-ea"/>
                          <a:cs typeface="+mn-cs"/>
                        </a:rPr>
                        <a:t>Online Learning</a:t>
                      </a:r>
                      <a:endParaRPr lang="en-US" sz="1600" dirty="0">
                        <a:solidFill>
                          <a:schemeClr val="bg1"/>
                        </a:solidFill>
                      </a:endParaRPr>
                    </a:p>
                  </a:txBody>
                  <a:tcPr marL="94026" marR="94026" marT="47013" marB="47013"/>
                </a:tc>
                <a:tc hMerge="1">
                  <a:txBody>
                    <a:bodyPr/>
                    <a:lstStyle/>
                    <a:p>
                      <a:endParaRPr dirty="0"/>
                    </a:p>
                  </a:txBody>
                  <a:tcPr marL="94026" marR="94026" marT="47013" marB="47013"/>
                </a:tc>
                <a:extLst>
                  <a:ext uri="{0D108BD9-81ED-4DB2-BD59-A6C34878D82A}">
                    <a16:rowId xmlns:a16="http://schemas.microsoft.com/office/drawing/2014/main" val="3576029670"/>
                  </a:ext>
                </a:extLst>
              </a:tr>
              <a:tr h="1206588">
                <a:tc>
                  <a:txBody>
                    <a:bodyPr/>
                    <a:lstStyle/>
                    <a:p>
                      <a:r>
                        <a:rPr lang="en-US" sz="1600" dirty="0"/>
                        <a:t>Definition</a:t>
                      </a:r>
                    </a:p>
                  </a:txBody>
                  <a:tcPr marL="94026" marR="94026" marT="47013" marB="47013"/>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dirty="0"/>
                        <a:t>Train the system incrementally by feeding its data instance sequentially; in small batches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dirty="0"/>
                        <a:t>Train models which requires huge data set that cannot fit on one machine (out-of-core-learning). Loads part of data runs a training step and repeat the process</a:t>
                      </a:r>
                    </a:p>
                  </a:txBody>
                  <a:tcPr marL="94026" marR="94026" marT="47013" marB="47013"/>
                </a:tc>
                <a:extLst>
                  <a:ext uri="{0D108BD9-81ED-4DB2-BD59-A6C34878D82A}">
                    <a16:rowId xmlns:a16="http://schemas.microsoft.com/office/drawing/2014/main" val="2473932639"/>
                  </a:ext>
                </a:extLst>
              </a:tr>
              <a:tr h="758509">
                <a:tc>
                  <a:txBody>
                    <a:bodyPr/>
                    <a:lstStyle/>
                    <a:p>
                      <a:r>
                        <a:rPr lang="en-US" sz="1600" dirty="0"/>
                        <a:t>Important Point</a:t>
                      </a:r>
                    </a:p>
                  </a:txBody>
                  <a:tcPr marL="94026" marR="94026" marT="47013" marB="4701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How fast ML systems adapts to changing data which is called learning rate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600" dirty="0"/>
                        <a:t>High Learning Rate -&gt; System adapt to new data -&gt; Forgets old one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600" dirty="0"/>
                        <a:t>Low Learning Rate -&gt; System learn more slowly -&gt; Less sensitive to new </a:t>
                      </a:r>
                    </a:p>
                  </a:txBody>
                  <a:tcPr marL="94026" marR="94026" marT="47013" marB="47013"/>
                </a:tc>
                <a:extLst>
                  <a:ext uri="{0D108BD9-81ED-4DB2-BD59-A6C34878D82A}">
                    <a16:rowId xmlns:a16="http://schemas.microsoft.com/office/drawing/2014/main" val="754589513"/>
                  </a:ext>
                </a:extLst>
              </a:tr>
              <a:tr h="310430">
                <a:tc>
                  <a:txBody>
                    <a:bodyPr/>
                    <a:lstStyle/>
                    <a:p>
                      <a:r>
                        <a:rPr lang="en-US" sz="1600" dirty="0"/>
                        <a:t>Advantage</a:t>
                      </a:r>
                    </a:p>
                  </a:txBody>
                  <a:tcPr marL="94026" marR="94026" marT="47013" marB="47013"/>
                </a:tc>
                <a:tc>
                  <a:txBody>
                    <a:bodyPr/>
                    <a:lstStyle/>
                    <a:p>
                      <a:r>
                        <a:rPr lang="en-US" sz="1600"/>
                        <a:t>Fast and Cheap which would help to learn the system on the fly as data arrives</a:t>
                      </a:r>
                      <a:endParaRPr lang="en-US" sz="1600" dirty="0"/>
                    </a:p>
                  </a:txBody>
                  <a:tcPr marL="94026" marR="94026" marT="47013" marB="47013"/>
                </a:tc>
                <a:extLst>
                  <a:ext uri="{0D108BD9-81ED-4DB2-BD59-A6C34878D82A}">
                    <a16:rowId xmlns:a16="http://schemas.microsoft.com/office/drawing/2014/main" val="1788590985"/>
                  </a:ext>
                </a:extLst>
              </a:tr>
              <a:tr h="534470">
                <a:tc>
                  <a:txBody>
                    <a:bodyPr/>
                    <a:lstStyle/>
                    <a:p>
                      <a:r>
                        <a:rPr lang="en-US" sz="1600" dirty="0"/>
                        <a:t>Challenges</a:t>
                      </a:r>
                    </a:p>
                  </a:txBody>
                  <a:tcPr marL="94026" marR="94026" marT="47013" marB="47013"/>
                </a:tc>
                <a:tc>
                  <a:txBody>
                    <a:bodyPr/>
                    <a:lstStyle/>
                    <a:p>
                      <a:r>
                        <a:rPr lang="en-US" sz="1600" dirty="0"/>
                        <a:t>If you inject bad data, then your system performance will decline and client can notice. Keep monitoring</a:t>
                      </a:r>
                    </a:p>
                  </a:txBody>
                  <a:tcPr marL="94026" marR="94026" marT="47013" marB="47013"/>
                </a:tc>
                <a:extLst>
                  <a:ext uri="{0D108BD9-81ED-4DB2-BD59-A6C34878D82A}">
                    <a16:rowId xmlns:a16="http://schemas.microsoft.com/office/drawing/2014/main" val="337490829"/>
                  </a:ext>
                </a:extLst>
              </a:tr>
              <a:tr h="28314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Which System Uses</a:t>
                      </a:r>
                    </a:p>
                    <a:p>
                      <a:endParaRPr lang="en-US" sz="1600" dirty="0"/>
                    </a:p>
                  </a:txBody>
                  <a:tcPr marL="94026" marR="94026" marT="47013" marB="47013"/>
                </a:tc>
                <a:tc>
                  <a:txBody>
                    <a:bodyPr/>
                    <a:lstStyle/>
                    <a:p>
                      <a:pPr marL="0" algn="l" defTabSz="914400" rtl="0" eaLnBrk="1" latinLnBrk="0" hangingPunct="1"/>
                      <a:r>
                        <a:rPr lang="en-US" sz="1600" b="1" kern="1200" dirty="0">
                          <a:solidFill>
                            <a:schemeClr val="dk1"/>
                          </a:solidFill>
                          <a:latin typeface="+mn-lt"/>
                          <a:ea typeface="+mn-ea"/>
                          <a:cs typeface="+mn-cs"/>
                        </a:rPr>
                        <a:t>Stock Market Prediction Systems </a:t>
                      </a:r>
                      <a:r>
                        <a:rPr lang="en-US" sz="1600" kern="1200" dirty="0">
                          <a:solidFill>
                            <a:schemeClr val="dk1"/>
                          </a:solidFill>
                          <a:latin typeface="+mn-lt"/>
                          <a:ea typeface="+mn-ea"/>
                          <a:cs typeface="+mn-cs"/>
                        </a:rPr>
                        <a:t>- Continuously update with new market prices </a:t>
                      </a:r>
                    </a:p>
                    <a:p>
                      <a:pPr marL="0" algn="l" defTabSz="914400" rtl="0" eaLnBrk="1" latinLnBrk="0" hangingPunct="1"/>
                      <a:r>
                        <a:rPr lang="en-US" sz="1600" b="1" kern="1200" dirty="0">
                          <a:solidFill>
                            <a:schemeClr val="dk1"/>
                          </a:solidFill>
                          <a:latin typeface="+mn-lt"/>
                          <a:ea typeface="+mn-ea"/>
                          <a:cs typeface="+mn-cs"/>
                        </a:rPr>
                        <a:t>Real-Time Fraud Detection </a:t>
                      </a:r>
                      <a:r>
                        <a:rPr lang="en-US" sz="1600" kern="1200" dirty="0">
                          <a:solidFill>
                            <a:schemeClr val="dk1"/>
                          </a:solidFill>
                          <a:latin typeface="+mn-lt"/>
                          <a:ea typeface="+mn-ea"/>
                          <a:cs typeface="+mn-cs"/>
                        </a:rPr>
                        <a:t>Learns from newly detected fraudulent transactions immediately </a:t>
                      </a:r>
                    </a:p>
                    <a:p>
                      <a:pPr marL="0" algn="l" defTabSz="914400" rtl="0" eaLnBrk="1" latinLnBrk="0" hangingPunct="1"/>
                      <a:r>
                        <a:rPr lang="en-US" sz="1600" b="1" kern="1200" dirty="0">
                          <a:solidFill>
                            <a:schemeClr val="dk1"/>
                          </a:solidFill>
                          <a:latin typeface="+mn-lt"/>
                          <a:ea typeface="+mn-ea"/>
                          <a:cs typeface="+mn-cs"/>
                        </a:rPr>
                        <a:t>Recommendation Systems </a:t>
                      </a:r>
                      <a:r>
                        <a:rPr lang="en-US" sz="1600" kern="1200" dirty="0">
                          <a:solidFill>
                            <a:schemeClr val="dk1"/>
                          </a:solidFill>
                          <a:latin typeface="+mn-lt"/>
                          <a:ea typeface="+mn-ea"/>
                          <a:cs typeface="+mn-cs"/>
                        </a:rPr>
                        <a:t>Platforms like YouTube or Netflix adapt recommendations based on recent user activity </a:t>
                      </a:r>
                    </a:p>
                    <a:p>
                      <a:pPr marL="0" algn="l" defTabSz="914400" rtl="0" eaLnBrk="1" latinLnBrk="0" hangingPunct="1"/>
                      <a:r>
                        <a:rPr lang="en-US" sz="1600" b="1" kern="1200" dirty="0">
                          <a:solidFill>
                            <a:schemeClr val="dk1"/>
                          </a:solidFill>
                          <a:latin typeface="+mn-lt"/>
                          <a:ea typeface="+mn-ea"/>
                          <a:cs typeface="+mn-cs"/>
                        </a:rPr>
                        <a:t>Ad Click Prediction Systems  </a:t>
                      </a:r>
                      <a:r>
                        <a:rPr lang="en-US" sz="1600" kern="1200" dirty="0">
                          <a:solidFill>
                            <a:schemeClr val="dk1"/>
                          </a:solidFill>
                          <a:latin typeface="+mn-lt"/>
                          <a:ea typeface="+mn-ea"/>
                          <a:cs typeface="+mn-cs"/>
                        </a:rPr>
                        <a:t>Google and social media platforms update models from live click behavior </a:t>
                      </a:r>
                    </a:p>
                    <a:p>
                      <a:pPr marL="0" algn="l" defTabSz="914400" rtl="0" eaLnBrk="1" latinLnBrk="0" hangingPunct="1"/>
                      <a:r>
                        <a:rPr lang="en-US" sz="1600" b="1" kern="1200" dirty="0">
                          <a:solidFill>
                            <a:schemeClr val="dk1"/>
                          </a:solidFill>
                          <a:latin typeface="+mn-lt"/>
                          <a:ea typeface="+mn-ea"/>
                          <a:cs typeface="+mn-cs"/>
                        </a:rPr>
                        <a:t>Self-Driving Cars  </a:t>
                      </a:r>
                      <a:r>
                        <a:rPr lang="en-US" sz="1600" kern="1200" dirty="0">
                          <a:solidFill>
                            <a:schemeClr val="dk1"/>
                          </a:solidFill>
                          <a:latin typeface="+mn-lt"/>
                          <a:ea typeface="+mn-ea"/>
                          <a:cs typeface="+mn-cs"/>
                        </a:rPr>
                        <a:t>Systems process continuous sensor data and adapt models over time</a:t>
                      </a:r>
                    </a:p>
                  </a:txBody>
                  <a:tcPr marL="94026" marR="94026" marT="47013" marB="47013"/>
                </a:tc>
                <a:extLst>
                  <a:ext uri="{0D108BD9-81ED-4DB2-BD59-A6C34878D82A}">
                    <a16:rowId xmlns:a16="http://schemas.microsoft.com/office/drawing/2014/main" val="3277642563"/>
                  </a:ext>
                </a:extLst>
              </a:tr>
            </a:tbl>
          </a:graphicData>
        </a:graphic>
      </p:graphicFrame>
      <p:pic>
        <p:nvPicPr>
          <p:cNvPr id="28" name="Picture 27">
            <a:extLst>
              <a:ext uri="{FF2B5EF4-FFF2-40B4-BE49-F238E27FC236}">
                <a16:creationId xmlns:a16="http://schemas.microsoft.com/office/drawing/2014/main" id="{77047F7D-1736-3283-5D90-98A63E09B92F}"/>
              </a:ext>
            </a:extLst>
          </p:cNvPr>
          <p:cNvPicPr>
            <a:picLocks noChangeAspect="1"/>
          </p:cNvPicPr>
          <p:nvPr/>
        </p:nvPicPr>
        <p:blipFill>
          <a:blip r:embed="rId2"/>
          <a:stretch>
            <a:fillRect/>
          </a:stretch>
        </p:blipFill>
        <p:spPr>
          <a:xfrm>
            <a:off x="7857540" y="3857011"/>
            <a:ext cx="7150753" cy="4812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3851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D386A9-4425-7676-D6C8-98E3CD17ECF3}"/>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4EBDF-4156-2AEF-2B9E-F67737FFDA78}"/>
              </a:ext>
            </a:extLst>
          </p:cNvPr>
          <p:cNvSpPr>
            <a:spLocks noGrp="1"/>
          </p:cNvSpPr>
          <p:nvPr>
            <p:ph type="title"/>
          </p:nvPr>
        </p:nvSpPr>
        <p:spPr>
          <a:xfrm>
            <a:off x="635000" y="640823"/>
            <a:ext cx="3418659" cy="5583148"/>
          </a:xfrm>
        </p:spPr>
        <p:txBody>
          <a:bodyPr anchor="ctr">
            <a:normAutofit/>
          </a:bodyPr>
          <a:lstStyle/>
          <a:p>
            <a:r>
              <a:rPr lang="en-US" sz="5400"/>
              <a:t>Instance Based Versus Model-Based Learning</a:t>
            </a:r>
          </a:p>
        </p:txBody>
      </p:sp>
      <p:sp>
        <p:nvSpPr>
          <p:cNvPr id="2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
            <a:extLst>
              <a:ext uri="{FF2B5EF4-FFF2-40B4-BE49-F238E27FC236}">
                <a16:creationId xmlns:a16="http://schemas.microsoft.com/office/drawing/2014/main" id="{BC1CF124-4687-8187-8E6C-BEEF7AB2BA99}"/>
              </a:ext>
            </a:extLst>
          </p:cNvPr>
          <p:cNvGraphicFramePr>
            <a:graphicFrameLocks noGrp="1"/>
          </p:cNvGraphicFramePr>
          <p:nvPr>
            <p:ph idx="1"/>
            <p:extLst>
              <p:ext uri="{D42A27DB-BD31-4B8C-83A1-F6EECF244321}">
                <p14:modId xmlns:p14="http://schemas.microsoft.com/office/powerpoint/2010/main" val="313931189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68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20524-7845-44B8-BBA0-57DA07D630F4}"/>
              </a:ext>
            </a:extLst>
          </p:cNvPr>
          <p:cNvSpPr>
            <a:spLocks noGrp="1"/>
          </p:cNvSpPr>
          <p:nvPr>
            <p:ph type="title"/>
          </p:nvPr>
        </p:nvSpPr>
        <p:spPr/>
        <p:txBody>
          <a:bodyPr/>
          <a:lstStyle/>
          <a:p>
            <a:r>
              <a:rPr lang="en-US" dirty="0"/>
              <a:t>What is Generalization</a:t>
            </a:r>
          </a:p>
        </p:txBody>
      </p:sp>
      <p:sp>
        <p:nvSpPr>
          <p:cNvPr id="3" name="Content Placeholder 2">
            <a:extLst>
              <a:ext uri="{FF2B5EF4-FFF2-40B4-BE49-F238E27FC236}">
                <a16:creationId xmlns:a16="http://schemas.microsoft.com/office/drawing/2014/main" id="{16F81636-B2E6-D22F-7EB2-D79E09D143D9}"/>
              </a:ext>
            </a:extLst>
          </p:cNvPr>
          <p:cNvSpPr>
            <a:spLocks noGrp="1"/>
          </p:cNvSpPr>
          <p:nvPr>
            <p:ph idx="1"/>
          </p:nvPr>
        </p:nvSpPr>
        <p:spPr>
          <a:xfrm>
            <a:off x="838200" y="1825625"/>
            <a:ext cx="10515600" cy="646642"/>
          </a:xfrm>
        </p:spPr>
        <p:txBody>
          <a:bodyPr/>
          <a:lstStyle/>
          <a:p>
            <a:r>
              <a:rPr lang="en-US" dirty="0"/>
              <a:t>The ability of a model to perform well on new, unseen data.</a:t>
            </a:r>
          </a:p>
          <a:p>
            <a:endParaRPr lang="en-US" dirty="0"/>
          </a:p>
        </p:txBody>
      </p:sp>
      <p:sp>
        <p:nvSpPr>
          <p:cNvPr id="5" name="TextBox 4">
            <a:extLst>
              <a:ext uri="{FF2B5EF4-FFF2-40B4-BE49-F238E27FC236}">
                <a16:creationId xmlns:a16="http://schemas.microsoft.com/office/drawing/2014/main" id="{E19EA79D-9786-EC01-22B0-3AAF0806413A}"/>
              </a:ext>
            </a:extLst>
          </p:cNvPr>
          <p:cNvSpPr txBox="1"/>
          <p:nvPr/>
        </p:nvSpPr>
        <p:spPr>
          <a:xfrm>
            <a:off x="1007533" y="2732038"/>
            <a:ext cx="6096000" cy="2308324"/>
          </a:xfrm>
          <a:prstGeom prst="rect">
            <a:avLst/>
          </a:prstGeom>
          <a:noFill/>
        </p:spPr>
        <p:txBody>
          <a:bodyPr wrap="square">
            <a:spAutoFit/>
          </a:bodyPr>
          <a:lstStyle/>
          <a:p>
            <a:pPr>
              <a:buNone/>
            </a:pPr>
            <a:r>
              <a:rPr lang="en-US" b="1" dirty="0"/>
              <a:t>Simple Example</a:t>
            </a:r>
          </a:p>
          <a:p>
            <a:pPr>
              <a:buNone/>
            </a:pPr>
            <a:r>
              <a:rPr lang="en-US" dirty="0"/>
              <a:t>Suppose you train a model using pictures of cats.</a:t>
            </a:r>
          </a:p>
          <a:p>
            <a:pPr>
              <a:buNone/>
            </a:pPr>
            <a:r>
              <a:rPr lang="en-US" dirty="0"/>
              <a:t>During training:</a:t>
            </a:r>
          </a:p>
          <a:p>
            <a:pPr>
              <a:buFont typeface="Arial" panose="020B0604020202020204" pitchFamily="34" charset="0"/>
              <a:buChar char="•"/>
            </a:pPr>
            <a:r>
              <a:rPr lang="en-US" dirty="0"/>
              <a:t>It sees 1,000 cat images. </a:t>
            </a:r>
          </a:p>
          <a:p>
            <a:pPr>
              <a:buNone/>
            </a:pPr>
            <a:r>
              <a:rPr lang="en-US" dirty="0"/>
              <a:t>Later, you show it a completely new cat image.</a:t>
            </a:r>
          </a:p>
          <a:p>
            <a:pPr>
              <a:buNone/>
            </a:pPr>
            <a:r>
              <a:rPr lang="en-US" dirty="0"/>
              <a:t>If it still correctly says:</a:t>
            </a:r>
          </a:p>
          <a:p>
            <a:pPr>
              <a:buNone/>
            </a:pPr>
            <a:r>
              <a:rPr lang="en-US" dirty="0"/>
              <a:t>“This is a cat”</a:t>
            </a:r>
          </a:p>
          <a:p>
            <a:pPr>
              <a:buNone/>
            </a:pPr>
            <a:r>
              <a:rPr lang="en-US" dirty="0"/>
              <a:t>then the model has generalized well</a:t>
            </a:r>
          </a:p>
        </p:txBody>
      </p:sp>
      <p:sp>
        <p:nvSpPr>
          <p:cNvPr id="9" name="TextBox 8">
            <a:extLst>
              <a:ext uri="{FF2B5EF4-FFF2-40B4-BE49-F238E27FC236}">
                <a16:creationId xmlns:a16="http://schemas.microsoft.com/office/drawing/2014/main" id="{3AAAFA84-98B7-951E-8326-0271D066D43E}"/>
              </a:ext>
            </a:extLst>
          </p:cNvPr>
          <p:cNvSpPr txBox="1"/>
          <p:nvPr/>
        </p:nvSpPr>
        <p:spPr>
          <a:xfrm>
            <a:off x="6096000" y="2690336"/>
            <a:ext cx="6096000" cy="1200329"/>
          </a:xfrm>
          <a:prstGeom prst="rect">
            <a:avLst/>
          </a:prstGeom>
          <a:noFill/>
        </p:spPr>
        <p:txBody>
          <a:bodyPr wrap="square">
            <a:spAutoFit/>
          </a:bodyPr>
          <a:lstStyle/>
          <a:p>
            <a:pPr>
              <a:buNone/>
            </a:pPr>
            <a:r>
              <a:rPr lang="en-US" b="1" dirty="0"/>
              <a:t>Easy Student Analogy</a:t>
            </a:r>
          </a:p>
          <a:p>
            <a:pPr>
              <a:buNone/>
            </a:pPr>
            <a:r>
              <a:rPr lang="en-US" b="1" dirty="0"/>
              <a:t>Memorization</a:t>
            </a:r>
          </a:p>
          <a:p>
            <a:pPr>
              <a:buNone/>
            </a:pPr>
            <a:r>
              <a:rPr lang="en-US" dirty="0"/>
              <a:t>Student remembers exact answers only </a:t>
            </a:r>
          </a:p>
          <a:p>
            <a:pPr>
              <a:buNone/>
            </a:pPr>
            <a:r>
              <a:rPr lang="en-US" dirty="0"/>
              <a:t>Fails when question changes slightly.</a:t>
            </a:r>
          </a:p>
        </p:txBody>
      </p:sp>
    </p:spTree>
    <p:extLst>
      <p:ext uri="{BB962C8B-B14F-4D97-AF65-F5344CB8AC3E}">
        <p14:creationId xmlns:p14="http://schemas.microsoft.com/office/powerpoint/2010/main" val="1048300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733C2B-DDED-7A57-7B17-D03BE60E52EB}"/>
              </a:ext>
            </a:extLst>
          </p:cNvPr>
          <p:cNvSpPr>
            <a:spLocks noGrp="1"/>
          </p:cNvSpPr>
          <p:nvPr>
            <p:ph type="title"/>
          </p:nvPr>
        </p:nvSpPr>
        <p:spPr>
          <a:xfrm>
            <a:off x="630936" y="640080"/>
            <a:ext cx="4818888" cy="1481328"/>
          </a:xfrm>
        </p:spPr>
        <p:txBody>
          <a:bodyPr anchor="b">
            <a:normAutofit/>
          </a:bodyPr>
          <a:lstStyle/>
          <a:p>
            <a:r>
              <a:rPr lang="en-US" sz="5000"/>
              <a:t>Instance Based Learning</a:t>
            </a:r>
          </a:p>
        </p:txBody>
      </p:sp>
      <p:sp>
        <p:nvSpPr>
          <p:cNvPr id="1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23D309-3FB2-BB48-86FF-68342C0EA7DD}"/>
              </a:ext>
            </a:extLst>
          </p:cNvPr>
          <p:cNvSpPr>
            <a:spLocks noGrp="1"/>
          </p:cNvSpPr>
          <p:nvPr>
            <p:ph idx="1"/>
          </p:nvPr>
        </p:nvSpPr>
        <p:spPr>
          <a:xfrm>
            <a:off x="630936" y="2660904"/>
            <a:ext cx="4818888" cy="3547872"/>
          </a:xfrm>
        </p:spPr>
        <p:txBody>
          <a:bodyPr anchor="t">
            <a:normAutofit/>
          </a:bodyPr>
          <a:lstStyle/>
          <a:p>
            <a:r>
              <a:rPr lang="en-US" sz="1700" dirty="0"/>
              <a:t>System Learns By Heart then generalizes to new cases by using a similarity measure to compare to the learned example</a:t>
            </a:r>
          </a:p>
          <a:p>
            <a:r>
              <a:rPr lang="en-US" sz="1700" dirty="0"/>
              <a:t>Spam Filter application can used Instance base learning to flag emails that are identical to known spam emails. </a:t>
            </a:r>
          </a:p>
          <a:p>
            <a:r>
              <a:rPr lang="en-US" sz="1700" dirty="0"/>
              <a:t>This requires a </a:t>
            </a:r>
            <a:r>
              <a:rPr lang="en-US" sz="1700" i="1" dirty="0"/>
              <a:t>“Measure of similarity”</a:t>
            </a:r>
            <a:r>
              <a:rPr lang="en-US" sz="1700" dirty="0"/>
              <a:t> – system counts the no. of words they have in common and flag an email as spam if they have many words in common</a:t>
            </a:r>
          </a:p>
          <a:p>
            <a:r>
              <a:rPr lang="en-US" sz="1700" dirty="0"/>
              <a:t> New instance would be classified as a triangle because similar instances belongs to that class</a:t>
            </a:r>
          </a:p>
          <a:p>
            <a:endParaRPr lang="en-US" sz="1700" dirty="0"/>
          </a:p>
          <a:p>
            <a:endParaRPr lang="en-US" sz="1700" dirty="0"/>
          </a:p>
        </p:txBody>
      </p:sp>
      <p:pic>
        <p:nvPicPr>
          <p:cNvPr id="4" name="Picture 3" descr="What is Instance-Based Learning?. [ML0to100] — S1E11 | by Sanidhya Agrawal  | Medium">
            <a:extLst>
              <a:ext uri="{FF2B5EF4-FFF2-40B4-BE49-F238E27FC236}">
                <a16:creationId xmlns:a16="http://schemas.microsoft.com/office/drawing/2014/main" id="{6EFAF943-2973-DE3F-47B6-7FBD4AC239D5}"/>
              </a:ext>
            </a:extLst>
          </p:cNvPr>
          <p:cNvPicPr>
            <a:picLocks noChangeAspect="1"/>
          </p:cNvPicPr>
          <p:nvPr/>
        </p:nvPicPr>
        <p:blipFill>
          <a:blip r:embed="rId2"/>
          <a:stretch>
            <a:fillRect/>
          </a:stretch>
        </p:blipFill>
        <p:spPr>
          <a:xfrm>
            <a:off x="5773928" y="3207527"/>
            <a:ext cx="5458968" cy="2678145"/>
          </a:xfrm>
          <a:prstGeom prst="rect">
            <a:avLst/>
          </a:prstGeom>
        </p:spPr>
      </p:pic>
    </p:spTree>
    <p:extLst>
      <p:ext uri="{BB962C8B-B14F-4D97-AF65-F5344CB8AC3E}">
        <p14:creationId xmlns:p14="http://schemas.microsoft.com/office/powerpoint/2010/main" val="94321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F3B4-16F6-05FE-E3B5-DCC26D5223E7}"/>
              </a:ext>
            </a:extLst>
          </p:cNvPr>
          <p:cNvSpPr>
            <a:spLocks noGrp="1"/>
          </p:cNvSpPr>
          <p:nvPr>
            <p:ph type="title"/>
          </p:nvPr>
        </p:nvSpPr>
        <p:spPr/>
        <p:txBody>
          <a:bodyPr/>
          <a:lstStyle/>
          <a:p>
            <a:r>
              <a:rPr lang="en-US"/>
              <a:t>Model Based Learning</a:t>
            </a:r>
            <a:endParaRPr lang="en-US" dirty="0"/>
          </a:p>
        </p:txBody>
      </p:sp>
      <p:sp>
        <p:nvSpPr>
          <p:cNvPr id="3" name="Content Placeholder 2">
            <a:extLst>
              <a:ext uri="{FF2B5EF4-FFF2-40B4-BE49-F238E27FC236}">
                <a16:creationId xmlns:a16="http://schemas.microsoft.com/office/drawing/2014/main" id="{B024F545-8EAE-BC61-98D4-45B9C948BF32}"/>
              </a:ext>
            </a:extLst>
          </p:cNvPr>
          <p:cNvSpPr>
            <a:spLocks noGrp="1"/>
          </p:cNvSpPr>
          <p:nvPr>
            <p:ph idx="1"/>
          </p:nvPr>
        </p:nvSpPr>
        <p:spPr/>
        <p:txBody>
          <a:bodyPr/>
          <a:lstStyle/>
          <a:p>
            <a:r>
              <a:rPr lang="en-US" dirty="0"/>
              <a:t>Another way to </a:t>
            </a:r>
            <a:r>
              <a:rPr lang="en-US" b="1" dirty="0"/>
              <a:t>generalize</a:t>
            </a:r>
            <a:r>
              <a:rPr lang="en-US" dirty="0"/>
              <a:t> from a set of examples is to build a model and use that model to make predications</a:t>
            </a:r>
          </a:p>
          <a:p>
            <a:r>
              <a:rPr lang="en-US" dirty="0"/>
              <a:t>Steps to generalize using model</a:t>
            </a:r>
          </a:p>
          <a:p>
            <a:pPr lvl="1"/>
            <a:r>
              <a:rPr lang="en-US" dirty="0"/>
              <a:t>Collect data </a:t>
            </a:r>
          </a:p>
          <a:p>
            <a:pPr lvl="1"/>
            <a:r>
              <a:rPr lang="en-US" dirty="0"/>
              <a:t>Choose a model </a:t>
            </a:r>
          </a:p>
          <a:p>
            <a:pPr lvl="1"/>
            <a:r>
              <a:rPr lang="en-US" dirty="0"/>
              <a:t>Train the model </a:t>
            </a:r>
          </a:p>
          <a:p>
            <a:pPr lvl="1"/>
            <a:r>
              <a:rPr lang="en-US" dirty="0"/>
              <a:t>Use it to make predictions</a:t>
            </a:r>
          </a:p>
          <a:p>
            <a:endParaRPr lang="en-US" dirty="0"/>
          </a:p>
        </p:txBody>
      </p:sp>
    </p:spTree>
    <p:extLst>
      <p:ext uri="{BB962C8B-B14F-4D97-AF65-F5344CB8AC3E}">
        <p14:creationId xmlns:p14="http://schemas.microsoft.com/office/powerpoint/2010/main" val="1575451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5339-243B-3AF2-FC89-38616ECF21DB}"/>
              </a:ext>
            </a:extLst>
          </p:cNvPr>
          <p:cNvSpPr>
            <a:spLocks noGrp="1"/>
          </p:cNvSpPr>
          <p:nvPr>
            <p:ph type="title"/>
          </p:nvPr>
        </p:nvSpPr>
        <p:spPr/>
        <p:txBody>
          <a:bodyPr/>
          <a:lstStyle/>
          <a:p>
            <a:r>
              <a:rPr lang="en-US" dirty="0"/>
              <a:t>Does money make people happier?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39CF5C-0836-3F77-7D89-C2B77856FFEF}"/>
                  </a:ext>
                </a:extLst>
              </p:cNvPr>
              <p:cNvSpPr>
                <a:spLocks noGrp="1"/>
              </p:cNvSpPr>
              <p:nvPr>
                <p:ph idx="1"/>
              </p:nvPr>
            </p:nvSpPr>
            <p:spPr>
              <a:xfrm>
                <a:off x="838200" y="1631418"/>
                <a:ext cx="6443133" cy="4981045"/>
              </a:xfrm>
            </p:spPr>
            <p:txBody>
              <a:bodyPr>
                <a:normAutofit fontScale="70000" lnSpcReduction="20000"/>
              </a:bodyPr>
              <a:lstStyle/>
              <a:p>
                <a:r>
                  <a:rPr lang="en-US" b="1" dirty="0"/>
                  <a:t>Collecting data</a:t>
                </a:r>
                <a:r>
                  <a:rPr lang="en-US" dirty="0"/>
                  <a:t> is the first and most important step in Machine Learning.</a:t>
                </a:r>
              </a:p>
              <a:p>
                <a:r>
                  <a:rPr lang="en-US" b="1" dirty="0"/>
                  <a:t>Choose a model </a:t>
                </a:r>
                <a:r>
                  <a:rPr lang="en-US" dirty="0"/>
                  <a:t>Picking a mathematical method that will learn patterns from the data. Because:</a:t>
                </a:r>
              </a:p>
              <a:p>
                <a:pPr lvl="1" fontAlgn="t">
                  <a:buFont typeface="Wingdings" panose="05000000000000000000" pitchFamily="2" charset="2"/>
                  <a:buChar char="ü"/>
                </a:pPr>
                <a:r>
                  <a:rPr lang="en-US" dirty="0"/>
                  <a:t>GDP increases → happiness increases</a:t>
                </a:r>
              </a:p>
              <a:p>
                <a:pPr lvl="1" fontAlgn="t">
                  <a:buFont typeface="Wingdings" panose="05000000000000000000" pitchFamily="2" charset="2"/>
                  <a:buChar char="ü"/>
                </a:pPr>
                <a:r>
                  <a:rPr lang="en-US" dirty="0"/>
                  <a:t>The pattern is roughly linear</a:t>
                </a:r>
              </a:p>
              <a:p>
                <a:pPr lvl="1" fontAlgn="t">
                  <a:buFont typeface="Wingdings" panose="05000000000000000000" pitchFamily="2" charset="2"/>
                  <a:buChar char="ü"/>
                </a:pPr>
                <a:r>
                  <a:rPr lang="en-US" dirty="0"/>
                  <a:t>Models - Linear Regression, Decision Tree, K-Nearest Neighbors (KNN), Neural Networks</a:t>
                </a:r>
              </a:p>
              <a:p>
                <a:r>
                  <a:rPr lang="en-US" sz="2900" b="1" dirty="0"/>
                  <a:t>Train the model  </a:t>
                </a:r>
                <a:r>
                  <a:rPr lang="en-US" dirty="0"/>
                  <a:t>- </a:t>
                </a:r>
              </a:p>
              <a:p>
                <a:pPr lvl="1">
                  <a:buFont typeface="Wingdings" panose="05000000000000000000" pitchFamily="2" charset="2"/>
                  <a:buChar char="ü"/>
                </a:pPr>
                <a:r>
                  <a:rPr lang="en-US" dirty="0"/>
                  <a:t>Training means: Finding the best values of parameters.</a:t>
                </a:r>
              </a:p>
              <a:p>
                <a:pPr lvl="1">
                  <a:buFont typeface="Wingdings" panose="05000000000000000000" pitchFamily="2" charset="2"/>
                  <a:buChar char="ü"/>
                </a:pPr>
                <a:r>
                  <a:rPr lang="en-US" dirty="0"/>
                  <a:t>The algorithm adjusts the line until prediction errors become small.</a:t>
                </a:r>
              </a:p>
              <a:p>
                <a:pPr lvl="1">
                  <a:buFont typeface="Wingdings" panose="05000000000000000000" pitchFamily="2" charset="2"/>
                  <a:buChar char="ü"/>
                </a:pPr>
                <a:r>
                  <a:rPr lang="en-US" dirty="0"/>
                  <a:t>This process is called: optimization , fitting the model , learning from data </a:t>
                </a:r>
              </a:p>
              <a:p>
                <a:r>
                  <a:rPr lang="en-US" b="1" dirty="0"/>
                  <a:t>Use it to make predictions</a:t>
                </a:r>
              </a:p>
              <a:p>
                <a:pPr marL="457200" lvl="1" indent="0">
                  <a:buNone/>
                </a:pPr>
                <a:r>
                  <a:rPr lang="en-US" dirty="0"/>
                  <a:t>Suppose Cyprus GDP is about 22,000.</a:t>
                </a:r>
              </a:p>
              <a:p>
                <a:pPr lvl="1"/>
                <a:r>
                  <a:rPr lang="en-US" dirty="0"/>
                  <a:t>The model predicts:</a:t>
                </a:r>
              </a:p>
              <a:p>
                <a:pPr lvl="1"/>
                <a14:m>
                  <m:oMath xmlns:m="http://schemas.openxmlformats.org/officeDocument/2006/math">
                    <m:r>
                      <a:rPr lang="en-US" i="1"/>
                      <m:t>𝑦</m:t>
                    </m:r>
                    <m:r>
                      <a:rPr lang="en-US"/>
                      <m:t>=</m:t>
                    </m:r>
                    <m:r>
                      <a:rPr lang="en-US"/>
                      <m:t>4</m:t>
                    </m:r>
                    <m:r>
                      <a:rPr lang="en-US"/>
                      <m:t>.</m:t>
                    </m:r>
                    <m:r>
                      <a:rPr lang="en-US"/>
                      <m:t>85</m:t>
                    </m:r>
                    <m:r>
                      <a:rPr lang="en-US"/>
                      <m:t>+</m:t>
                    </m:r>
                    <m:r>
                      <a:rPr lang="en-US"/>
                      <m:t>4</m:t>
                    </m:r>
                    <m:r>
                      <a:rPr lang="en-US"/>
                      <m:t>.</m:t>
                    </m:r>
                    <m:r>
                      <a:rPr lang="en-US"/>
                      <m:t>91</m:t>
                    </m:r>
                    <m:r>
                      <a:rPr lang="en-US"/>
                      <m:t>×</m:t>
                    </m:r>
                    <m:sSup>
                      <m:sSupPr>
                        <m:ctrlPr>
                          <a:rPr lang="ar-AE" i="1"/>
                        </m:ctrlPr>
                      </m:sSupPr>
                      <m:e>
                        <m:r>
                          <a:rPr lang="ar-AE"/>
                          <m:t>10</m:t>
                        </m:r>
                      </m:e>
                      <m:sup>
                        <m:r>
                          <a:rPr lang="ar-AE"/>
                          <m:t>−</m:t>
                        </m:r>
                        <m:r>
                          <a:rPr lang="ar-AE"/>
                          <m:t>5</m:t>
                        </m:r>
                      </m:sup>
                    </m:sSup>
                    <m:d>
                      <m:dPr>
                        <m:ctrlPr>
                          <a:rPr lang="ar-AE" i="1"/>
                        </m:ctrlPr>
                      </m:dPr>
                      <m:e>
                        <m:r>
                          <a:rPr lang="ar-AE"/>
                          <m:t>22000</m:t>
                        </m:r>
                      </m:e>
                    </m:d>
                    <m:r>
                      <a:rPr lang="ar-AE"/>
                      <m:t>≈</m:t>
                    </m:r>
                    <m:r>
                      <a:rPr lang="ar-AE"/>
                      <m:t>5</m:t>
                    </m:r>
                    <m:r>
                      <a:rPr lang="ar-AE"/>
                      <m:t>.</m:t>
                    </m:r>
                    <m:r>
                      <a:rPr lang="ar-AE"/>
                      <m:t>93</m:t>
                    </m:r>
                  </m:oMath>
                </a14:m>
                <a:endParaRPr lang="ar-AE" dirty="0"/>
              </a:p>
              <a:p>
                <a:pPr lvl="1"/>
                <a:r>
                  <a:rPr lang="en-US" dirty="0"/>
                  <a:t>Meaning: predicted life satisfaction ≈ 5.9</a:t>
                </a:r>
              </a:p>
              <a:p>
                <a:endParaRPr lang="en-US" dirty="0"/>
              </a:p>
              <a:p>
                <a:endParaRPr lang="en-US" dirty="0"/>
              </a:p>
            </p:txBody>
          </p:sp>
        </mc:Choice>
        <mc:Fallback>
          <p:sp>
            <p:nvSpPr>
              <p:cNvPr id="3" name="Content Placeholder 2">
                <a:extLst>
                  <a:ext uri="{FF2B5EF4-FFF2-40B4-BE49-F238E27FC236}">
                    <a16:creationId xmlns:a16="http://schemas.microsoft.com/office/drawing/2014/main" id="{5D39CF5C-0836-3F77-7D89-C2B77856FFEF}"/>
                  </a:ext>
                </a:extLst>
              </p:cNvPr>
              <p:cNvSpPr>
                <a:spLocks noGrp="1" noRot="1" noChangeAspect="1" noMove="1" noResize="1" noEditPoints="1" noAdjustHandles="1" noChangeArrowheads="1" noChangeShapeType="1" noTextEdit="1"/>
              </p:cNvSpPr>
              <p:nvPr>
                <p:ph idx="1"/>
              </p:nvPr>
            </p:nvSpPr>
            <p:spPr>
              <a:xfrm>
                <a:off x="838200" y="1631418"/>
                <a:ext cx="6443133" cy="4981045"/>
              </a:xfrm>
              <a:blipFill>
                <a:blip r:embed="rId2"/>
                <a:stretch>
                  <a:fillRect l="-852" t="-2203"/>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3B397237-D0E3-62BB-60DD-B00BEB8EAABB}"/>
              </a:ext>
            </a:extLst>
          </p:cNvPr>
          <p:cNvGraphicFramePr>
            <a:graphicFrameLocks noGrp="1"/>
          </p:cNvGraphicFramePr>
          <p:nvPr>
            <p:extLst>
              <p:ext uri="{D42A27DB-BD31-4B8C-83A1-F6EECF244321}">
                <p14:modId xmlns:p14="http://schemas.microsoft.com/office/powerpoint/2010/main" val="8633195"/>
              </p:ext>
            </p:extLst>
          </p:nvPr>
        </p:nvGraphicFramePr>
        <p:xfrm>
          <a:off x="7594599" y="1643114"/>
          <a:ext cx="4275669" cy="2538095"/>
        </p:xfrm>
        <a:graphic>
          <a:graphicData uri="http://schemas.openxmlformats.org/drawingml/2006/table">
            <a:tbl>
              <a:tblPr firstRow="1" bandRow="1">
                <a:tableStyleId>{5C22544A-7EE6-4342-B048-85BDC9FD1C3A}</a:tableStyleId>
              </a:tblPr>
              <a:tblGrid>
                <a:gridCol w="1425223">
                  <a:extLst>
                    <a:ext uri="{9D8B030D-6E8A-4147-A177-3AD203B41FA5}">
                      <a16:colId xmlns:a16="http://schemas.microsoft.com/office/drawing/2014/main" val="1630600563"/>
                    </a:ext>
                  </a:extLst>
                </a:gridCol>
                <a:gridCol w="1425223">
                  <a:extLst>
                    <a:ext uri="{9D8B030D-6E8A-4147-A177-3AD203B41FA5}">
                      <a16:colId xmlns:a16="http://schemas.microsoft.com/office/drawing/2014/main" val="3945378556"/>
                    </a:ext>
                  </a:extLst>
                </a:gridCol>
                <a:gridCol w="1425223">
                  <a:extLst>
                    <a:ext uri="{9D8B030D-6E8A-4147-A177-3AD203B41FA5}">
                      <a16:colId xmlns:a16="http://schemas.microsoft.com/office/drawing/2014/main" val="3706541379"/>
                    </a:ext>
                  </a:extLst>
                </a:gridCol>
              </a:tblGrid>
              <a:tr h="370840">
                <a:tc>
                  <a:txBody>
                    <a:bodyPr/>
                    <a:lstStyle/>
                    <a:p>
                      <a:pPr fontAlgn="t">
                        <a:lnSpc>
                          <a:spcPts val="1500"/>
                        </a:lnSpc>
                        <a:buNone/>
                      </a:pPr>
                      <a:r>
                        <a:rPr lang="en-US" b="0" i="0" dirty="0">
                          <a:effectLst/>
                          <a:latin typeface="Segoe UI" panose="020B0502040204020203" pitchFamily="34" charset="0"/>
                        </a:rPr>
                        <a:t>Country</a:t>
                      </a:r>
                    </a:p>
                  </a:txBody>
                  <a:tcPr/>
                </a:tc>
                <a:tc>
                  <a:txBody>
                    <a:bodyPr/>
                    <a:lstStyle/>
                    <a:p>
                      <a:pPr fontAlgn="t">
                        <a:lnSpc>
                          <a:spcPts val="1500"/>
                        </a:lnSpc>
                        <a:buNone/>
                      </a:pPr>
                      <a:r>
                        <a:rPr lang="en-US" b="0" i="0" dirty="0">
                          <a:effectLst/>
                          <a:latin typeface="Segoe UI" panose="020B0502040204020203" pitchFamily="34" charset="0"/>
                        </a:rPr>
                        <a:t>GDP per capita (X)</a:t>
                      </a:r>
                    </a:p>
                  </a:txBody>
                  <a:tcPr/>
                </a:tc>
                <a:tc>
                  <a:txBody>
                    <a:bodyPr/>
                    <a:lstStyle/>
                    <a:p>
                      <a:pPr fontAlgn="t">
                        <a:lnSpc>
                          <a:spcPts val="1500"/>
                        </a:lnSpc>
                        <a:buNone/>
                      </a:pPr>
                      <a:r>
                        <a:rPr lang="en-US" b="0" i="0" dirty="0">
                          <a:effectLst/>
                          <a:latin typeface="Segoe UI" panose="020B0502040204020203" pitchFamily="34" charset="0"/>
                        </a:rPr>
                        <a:t>Life Satisfaction (Y)</a:t>
                      </a:r>
                    </a:p>
                  </a:txBody>
                  <a:tcPr/>
                </a:tc>
                <a:extLst>
                  <a:ext uri="{0D108BD9-81ED-4DB2-BD59-A6C34878D82A}">
                    <a16:rowId xmlns:a16="http://schemas.microsoft.com/office/drawing/2014/main" val="517953712"/>
                  </a:ext>
                </a:extLst>
              </a:tr>
              <a:tr h="370840">
                <a:tc>
                  <a:txBody>
                    <a:bodyPr/>
                    <a:lstStyle/>
                    <a:p>
                      <a:pPr>
                        <a:buNone/>
                      </a:pPr>
                      <a:r>
                        <a:rPr lang="en-US" dirty="0">
                          <a:effectLst/>
                        </a:rPr>
                        <a:t>India</a:t>
                      </a:r>
                    </a:p>
                  </a:txBody>
                  <a:tcPr anchor="ctr"/>
                </a:tc>
                <a:tc>
                  <a:txBody>
                    <a:bodyPr/>
                    <a:lstStyle/>
                    <a:p>
                      <a:pPr>
                        <a:buNone/>
                      </a:pPr>
                      <a:r>
                        <a:rPr lang="en-US" dirty="0">
                          <a:effectLst/>
                        </a:rPr>
                        <a:t>2000</a:t>
                      </a:r>
                    </a:p>
                  </a:txBody>
                  <a:tcPr anchor="ctr"/>
                </a:tc>
                <a:tc>
                  <a:txBody>
                    <a:bodyPr/>
                    <a:lstStyle/>
                    <a:p>
                      <a:pPr>
                        <a:buNone/>
                      </a:pPr>
                      <a:r>
                        <a:rPr lang="en-US" dirty="0">
                          <a:effectLst/>
                        </a:rPr>
                        <a:t>4.5</a:t>
                      </a:r>
                    </a:p>
                  </a:txBody>
                  <a:tcPr anchor="ctr"/>
                </a:tc>
                <a:extLst>
                  <a:ext uri="{0D108BD9-81ED-4DB2-BD59-A6C34878D82A}">
                    <a16:rowId xmlns:a16="http://schemas.microsoft.com/office/drawing/2014/main" val="1779299889"/>
                  </a:ext>
                </a:extLst>
              </a:tr>
              <a:tr h="370840">
                <a:tc>
                  <a:txBody>
                    <a:bodyPr/>
                    <a:lstStyle/>
                    <a:p>
                      <a:pPr>
                        <a:buNone/>
                      </a:pPr>
                      <a:r>
                        <a:rPr lang="en-US" dirty="0">
                          <a:effectLst/>
                        </a:rPr>
                        <a:t>France</a:t>
                      </a:r>
                    </a:p>
                  </a:txBody>
                  <a:tcPr anchor="ctr"/>
                </a:tc>
                <a:tc>
                  <a:txBody>
                    <a:bodyPr/>
                    <a:lstStyle/>
                    <a:p>
                      <a:pPr>
                        <a:buNone/>
                      </a:pPr>
                      <a:r>
                        <a:rPr lang="en-US" dirty="0">
                          <a:effectLst/>
                        </a:rPr>
                        <a:t>42000</a:t>
                      </a:r>
                    </a:p>
                  </a:txBody>
                  <a:tcPr anchor="ctr"/>
                </a:tc>
                <a:tc>
                  <a:txBody>
                    <a:bodyPr/>
                    <a:lstStyle/>
                    <a:p>
                      <a:pPr>
                        <a:buNone/>
                      </a:pPr>
                      <a:r>
                        <a:rPr lang="en-US" dirty="0">
                          <a:effectLst/>
                        </a:rPr>
                        <a:t>6.8</a:t>
                      </a:r>
                    </a:p>
                  </a:txBody>
                  <a:tcPr anchor="ctr"/>
                </a:tc>
                <a:extLst>
                  <a:ext uri="{0D108BD9-81ED-4DB2-BD59-A6C34878D82A}">
                    <a16:rowId xmlns:a16="http://schemas.microsoft.com/office/drawing/2014/main" val="1415580988"/>
                  </a:ext>
                </a:extLst>
              </a:tr>
              <a:tr h="370840">
                <a:tc>
                  <a:txBody>
                    <a:bodyPr/>
                    <a:lstStyle/>
                    <a:p>
                      <a:pPr>
                        <a:buNone/>
                      </a:pPr>
                      <a:r>
                        <a:rPr lang="en-US" dirty="0">
                          <a:effectLst/>
                        </a:rPr>
                        <a:t>USA</a:t>
                      </a:r>
                    </a:p>
                  </a:txBody>
                  <a:tcPr anchor="ctr"/>
                </a:tc>
                <a:tc>
                  <a:txBody>
                    <a:bodyPr/>
                    <a:lstStyle/>
                    <a:p>
                      <a:pPr>
                        <a:buNone/>
                      </a:pPr>
                      <a:r>
                        <a:rPr lang="en-US" dirty="0">
                          <a:effectLst/>
                        </a:rPr>
                        <a:t>60000</a:t>
                      </a:r>
                    </a:p>
                  </a:txBody>
                  <a:tcPr anchor="ctr"/>
                </a:tc>
                <a:tc>
                  <a:txBody>
                    <a:bodyPr/>
                    <a:lstStyle/>
                    <a:p>
                      <a:pPr>
                        <a:buNone/>
                      </a:pPr>
                      <a:r>
                        <a:rPr lang="en-US" dirty="0">
                          <a:effectLst/>
                        </a:rPr>
                        <a:t>7.2</a:t>
                      </a:r>
                    </a:p>
                  </a:txBody>
                  <a:tcPr anchor="ctr"/>
                </a:tc>
                <a:extLst>
                  <a:ext uri="{0D108BD9-81ED-4DB2-BD59-A6C34878D82A}">
                    <a16:rowId xmlns:a16="http://schemas.microsoft.com/office/drawing/2014/main" val="1939851655"/>
                  </a:ext>
                </a:extLst>
              </a:tr>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27699037"/>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73552403"/>
                  </a:ext>
                </a:extLst>
              </a:tr>
            </a:tbl>
          </a:graphicData>
        </a:graphic>
      </p:graphicFrame>
    </p:spTree>
    <p:extLst>
      <p:ext uri="{BB962C8B-B14F-4D97-AF65-F5344CB8AC3E}">
        <p14:creationId xmlns:p14="http://schemas.microsoft.com/office/powerpoint/2010/main" val="30541350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1707</TotalTime>
  <Words>1443</Words>
  <Application>Microsoft Office PowerPoint</Application>
  <PresentationFormat>Widescreen</PresentationFormat>
  <Paragraphs>186</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Segoe UI</vt:lpstr>
      <vt:lpstr>Wingdings</vt:lpstr>
      <vt:lpstr>Office Theme</vt:lpstr>
      <vt:lpstr>What is Machine Learning</vt:lpstr>
      <vt:lpstr>Why use ML</vt:lpstr>
      <vt:lpstr>Supervised Learning</vt:lpstr>
      <vt:lpstr>Unsupervised Learning</vt:lpstr>
      <vt:lpstr>Reinforcement Learning</vt:lpstr>
      <vt:lpstr>PowerPoint Presentation</vt:lpstr>
      <vt:lpstr>PowerPoint Presentation</vt:lpstr>
      <vt:lpstr>PowerPoint Presentation</vt:lpstr>
      <vt:lpstr>Instance Based Versus Model-Based Learning</vt:lpstr>
      <vt:lpstr>What is Generalization</vt:lpstr>
      <vt:lpstr>Instance Based Learning</vt:lpstr>
      <vt:lpstr>Model Based Learning</vt:lpstr>
      <vt:lpstr>Does money make people happier?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 Mahajan</dc:creator>
  <cp:lastModifiedBy>Vikas Mahajan</cp:lastModifiedBy>
  <cp:revision>5</cp:revision>
  <dcterms:created xsi:type="dcterms:W3CDTF">2026-05-23T11:13:27Z</dcterms:created>
  <dcterms:modified xsi:type="dcterms:W3CDTF">2026-05-24T15:41:10Z</dcterms:modified>
</cp:coreProperties>
</file>